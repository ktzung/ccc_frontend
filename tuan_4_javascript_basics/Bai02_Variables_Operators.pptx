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58" r:id="rId3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4A851-E951-410D-9A38-F50A6676757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D9861-D625-4932-B10D-1A3868D65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3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5"/>
          <p:cNvPicPr preferRelativeResize="0"/>
          <p:nvPr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170978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5"/>
          <p:cNvSpPr/>
          <p:nvPr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" name="Google Shape;18;p25"/>
          <p:cNvCxnSpPr/>
          <p:nvPr/>
        </p:nvCxnSpPr>
        <p:spPr>
          <a:xfrm>
            <a:off x="520878" y="3287006"/>
            <a:ext cx="911199" cy="0"/>
          </a:xfrm>
          <a:prstGeom prst="straightConnector1">
            <a:avLst/>
          </a:prstGeom>
          <a:noFill/>
          <a:ln w="28575" cap="flat" cmpd="sng">
            <a:solidFill>
              <a:srgbClr val="D2492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" name="Google Shape;20;p25"/>
          <p:cNvSpPr txBox="1"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" name="Google Shape;21;p25"/>
          <p:cNvPicPr preferRelativeResize="0"/>
          <p:nvPr userDrawn="1"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170976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5"/>
          <p:cNvSpPr txBox="1"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" name="Google Shape;2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99" y="6321112"/>
            <a:ext cx="3096846" cy="515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991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/>
          <p:nvPr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6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2A2BD"/>
              </a:buClr>
              <a:buSzPts val="2400"/>
              <a:buNone/>
              <a:defRPr sz="24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4423" y="6285400"/>
            <a:ext cx="3378255" cy="56199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583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/>
          <p:nvPr/>
        </p:nvSpPr>
        <p:spPr>
          <a:xfrm flipH="1">
            <a:off x="0" y="6460732"/>
            <a:ext cx="12192000" cy="396991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21314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0070C0"/>
              </a:solidFill>
              <a:latin typeface="Aptos Narrow" panose="020B000402020202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346841" y="133906"/>
            <a:ext cx="11466787" cy="82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3000"/>
              <a:buFont typeface="Arial"/>
              <a:buNone/>
              <a:defRPr sz="3000">
                <a:solidFill>
                  <a:srgbClr val="21314D"/>
                </a:solidFill>
                <a:latin typeface="Aptos Narrow" panose="020B00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1"/>
          </p:nvPr>
        </p:nvSpPr>
        <p:spPr>
          <a:xfrm>
            <a:off x="346841" y="1089401"/>
            <a:ext cx="11466787" cy="5087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  <a:defRPr sz="2200">
                <a:latin typeface="Aptos Narrow" panose="020B0004020202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40" name="Google Shape;40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41" name="Google Shape;41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3" name="Google Shape;43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0378" y="6350423"/>
            <a:ext cx="2987381" cy="496966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708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/>
          <p:nvPr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>
              <a:alpha val="93725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9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57" name="Google Shape;5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4423" y="6285400"/>
            <a:ext cx="3378255" cy="56199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293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30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0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67" name="Google Shape;67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499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31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1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79" name="Google Shape;7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456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32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2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87" name="Google Shape;8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49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33"/>
          <p:cNvSpPr txBox="1"/>
          <p:nvPr/>
        </p:nvSpPr>
        <p:spPr>
          <a:xfrm>
            <a:off x="838202" y="5746528"/>
            <a:ext cx="13016751" cy="7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</a:pPr>
            <a:r>
              <a:rPr lang="en-US" sz="4400" b="1" i="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sp>
        <p:nvSpPr>
          <p:cNvPr id="93" name="Google Shape;93;p33"/>
          <p:cNvSpPr>
            <a:spLocks noGrp="1"/>
          </p:cNvSpPr>
          <p:nvPr>
            <p:ph type="pic" idx="2"/>
          </p:nvPr>
        </p:nvSpPr>
        <p:spPr>
          <a:xfrm>
            <a:off x="0" y="1"/>
            <a:ext cx="12192000" cy="557703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479240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4"/>
          <p:cNvSpPr txBox="1">
            <a:spLocks noGrp="1"/>
          </p:cNvSpPr>
          <p:nvPr>
            <p:ph type="body" idx="1"/>
          </p:nvPr>
        </p:nvSpPr>
        <p:spPr>
          <a:xfrm>
            <a:off x="7060253" y="3052261"/>
            <a:ext cx="4862404" cy="197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4"/>
          <p:cNvSpPr>
            <a:spLocks noGrp="1"/>
          </p:cNvSpPr>
          <p:nvPr>
            <p:ph type="pic" idx="2"/>
          </p:nvPr>
        </p:nvSpPr>
        <p:spPr>
          <a:xfrm>
            <a:off x="0" y="3"/>
            <a:ext cx="6890995" cy="6857999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98" name="Google Shape;98;p34"/>
          <p:cNvSpPr txBox="1"/>
          <p:nvPr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0724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3200"/>
              <a:buFont typeface="Arial"/>
              <a:buNone/>
              <a:defRPr sz="3200"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5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5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5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108" name="Google Shape;10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777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6"/>
          <p:cNvSpPr/>
          <p:nvPr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6"/>
          <p:cNvSpPr txBox="1">
            <a:spLocks noGrp="1"/>
          </p:cNvSpPr>
          <p:nvPr>
            <p:ph type="title"/>
          </p:nvPr>
        </p:nvSpPr>
        <p:spPr>
          <a:xfrm>
            <a:off x="450058" y="472281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6"/>
          <p:cNvSpPr>
            <a:spLocks noGrp="1"/>
          </p:cNvSpPr>
          <p:nvPr>
            <p:ph type="pic" idx="2"/>
          </p:nvPr>
        </p:nvSpPr>
        <p:spPr>
          <a:xfrm>
            <a:off x="5183189" y="2"/>
            <a:ext cx="7008812" cy="6857999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13" name="Google Shape;113;p36"/>
          <p:cNvSpPr txBox="1">
            <a:spLocks noGrp="1"/>
          </p:cNvSpPr>
          <p:nvPr>
            <p:ph type="body" idx="1"/>
          </p:nvPr>
        </p:nvSpPr>
        <p:spPr>
          <a:xfrm>
            <a:off x="450058" y="207248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4" name="Google Shape;114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8124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37"/>
          <p:cNvSpPr/>
          <p:nvPr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7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126" name="Google Shape;126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6473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8"/>
          <p:cNvSpPr txBox="1">
            <a:spLocks noGrp="1"/>
          </p:cNvSpPr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8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38"/>
          <p:cNvSpPr/>
          <p:nvPr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8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135" name="Google Shape;135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9733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/>
          <p:nvPr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28"/>
          <p:cNvPicPr preferRelativeResize="0"/>
          <p:nvPr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552941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8"/>
          <p:cNvSpPr txBox="1">
            <a:spLocks noGrp="1"/>
          </p:cNvSpPr>
          <p:nvPr>
            <p:ph type="subTitle" idx="1"/>
          </p:nvPr>
        </p:nvSpPr>
        <p:spPr>
          <a:xfrm>
            <a:off x="2046399" y="253109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31591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21051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</a:rPr>
              <a:t>CSE441</a:t>
            </a:r>
            <a:r>
              <a:rPr lang="en-US" sz="4000"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</a:rPr>
              <a:t>Phát triển ứng dụng cho thiết bị di động</a:t>
            </a:r>
            <a:endParaRPr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2" name="Google Shape;142;p1"/>
          <p:cNvSpPr txBox="1"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</a:rPr>
              <a:t>dungkt@tlu.edu.vn</a:t>
            </a:r>
            <a:endParaRPr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" name="Google Shape;328;p22">
            <a:extLst>
              <a:ext uri="{FF2B5EF4-FFF2-40B4-BE49-F238E27FC236}">
                <a16:creationId xmlns:a16="http://schemas.microsoft.com/office/drawing/2014/main" id="{C3F62ED3-5DD4-D133-B737-5A7F343179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4416" y="2650191"/>
            <a:ext cx="1693017" cy="249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4C8C5F-AFE0-6FF5-62A1-799B060F92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377"/>
          <a:stretch/>
        </p:blipFill>
        <p:spPr>
          <a:xfrm>
            <a:off x="5407451" y="478699"/>
            <a:ext cx="1377099" cy="13775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vi-VN" sz="3600">
                <a:latin typeface="Roboto Condensed" panose="02000000000000000000" pitchFamily="2" charset="0"/>
                <a:ea typeface="Roboto Condensed" panose="02000000000000000000" pitchFamily="2" charset="0"/>
              </a:rPr>
              <a:t>Bài </a:t>
            </a:r>
            <a:r>
              <a:rPr lang="en-US" sz="3600">
                <a:latin typeface="Roboto Condensed" panose="02000000000000000000" pitchFamily="2" charset="0"/>
                <a:ea typeface="Roboto Condensed" panose="02000000000000000000" pitchFamily="2" charset="0"/>
              </a:rPr>
              <a:t>2. </a:t>
            </a:r>
            <a:r>
              <a:rPr lang="vi-VN" sz="3600">
                <a:latin typeface="Roboto Condensed" panose="02000000000000000000" pitchFamily="2" charset="0"/>
                <a:ea typeface="Roboto Condensed" panose="02000000000000000000" pitchFamily="2" charset="0"/>
              </a:rPr>
              <a:t>Variables &amp; Operators</a:t>
            </a:r>
            <a:endParaRPr sz="360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7738A0-7AE4-C6CA-109F-DFE801700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644" y="813481"/>
            <a:ext cx="5170713" cy="2615519"/>
          </a:xfrm>
          <a:prstGeom prst="roundRect">
            <a:avLst>
              <a:gd name="adj" fmla="val 7095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🎬 TÌNH HUỐNG KHỞI ĐỘNG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Minh khai báo biến đầu tiên: var name = "Minh". Chạy tốt.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200 dòng sau, bug kỳ lạ: biến 'name' bỗng dưng thay đổi giá trị, dù Minh không hề chạm vào.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Anh Hùng: "Vì em dùng var. var là biến phòng chung — ai cũng vào sửa được.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Dùng let hoặc const — biến phòng riêng có khóa."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💡 Bài đầu tiên quyết định phần lớn bugs bạn gặp sau này.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🎯 MỤC TIÊU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Sau bài này, các bạn sẽ: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Phân biệt var, let, const và biết dùng đúng lúc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Hiểu 7 kiểu dữ liệu cơ bản trong JavaScript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Sử dụng toán tử số học, so sánh, logic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Áp dụng template literals để nối string hiệu quả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Tránh các bẫy type coercion cơ bản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Đặt tên biến theo convention (camelCase, SCREAMING_SNAKE_CASE)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2/22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🗺️ LỘ TRÌNH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1️⃣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430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const / let / var — Ba tính cách khác nhau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2️⃣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7 Kiểu dữ liệu cơ bản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3️⃣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2316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Toán tử — Số học, so sánh,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19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39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4️⃣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63239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Template Literals — String nâng cao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5️⃣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033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Naming conventions + const với object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6️⃣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434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Quiz + Tổng kết + FAQ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3/22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const / let / 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Ba tính cách khác nhau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4/22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📖 GIẢI THÍCH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293B"/>
                </a:solidFill>
                <a:latin typeface="Aptos"/>
              </a:rPr>
              <a:t>Quy tắc vàng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const — giá trị KHÔNG thay đổi (mặc định nên dùng)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let — giá trị CÓ THỂ thay đổi (khi cần reassign)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var — TRÁNH DÙNG (legacy từ 1995, nhiều bẫy)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👉 Mặc định dùng const. Chỉ đổi sang let khi CẦN reassign.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5/22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🧩 ANALOGY — SO SÁNH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Biến = Phòng khách sạn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Thế giới thực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Lập trình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🔒 const = Phòng VIP, khóa vĩnh viễn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Không đổi reference. Nội dung bên trong (object/array) vẫn sửa được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🔑 let = Phòng thường, có khóa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Có thể đổi giá trị, nhưng chỉ trong scope (block) của nó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🚪 var = Phòng chung, không khóa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Ai cũng thấy, ai cũng sửa. Rò rỉ ra ngoài block — NGUY HIỂM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6/22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📊 BẢNG SO SÁNH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So sánh chi tiết var / let / const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8686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const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let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Thay đổi?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❌ Không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✅ Có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✅ Có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Block {}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Block {}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Hoisting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❌ Không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❌ Không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undefined (bẫy!)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Khai báo lại?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❌ Lỗi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❌ Lỗi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✅ Âm thầm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7/22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const với Object/Array — Chỉ khóa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const với primitive → không đổi được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"Minh"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name = "Khác";  // ❌ TypeError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const với object/array → ĐỔI NỘI DUNG được!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student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"Minh"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score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85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student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score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95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   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✅ OK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student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email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"minh@tlu.edu.vn"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 </a:t>
            </a:r>
            <a:r>
              <a:rPr sz="1300">
                <a:solidFill>
                  <a:srgbClr val="6A9955"/>
                </a:solidFill>
                <a:latin typeface="Consolas"/>
              </a:rPr>
              <a:t>// ✅ OK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todos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[</a:t>
            </a:r>
            <a:r>
              <a:rPr sz="1300">
                <a:solidFill>
                  <a:srgbClr val="CE9178"/>
                </a:solidFill>
                <a:latin typeface="Consolas"/>
              </a:rPr>
              <a:t>"HTML"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"CSS"</a:t>
            </a:r>
            <a:r>
              <a:rPr sz="1300">
                <a:solidFill>
                  <a:srgbClr val="D4D4D4"/>
                </a:solidFill>
                <a:latin typeface="Consolas"/>
              </a:rPr>
              <a:t>]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todos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push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"JS"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     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✅ OK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todos = [];                // ❌ TypeError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8/22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7 Kiểu dữ liệu cơ bản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String, Number, Boolean, Null, Undefined, Array, Object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9/22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7 kiểu dữ liệu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1. STRING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"Minh"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tpl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`Xin chào ${name}!`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2. NUMBER (integer + float = cùng kiểu)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age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21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pi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3.14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3. BOOLEAN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isLoggedIn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true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4. NULL — chủ ý "không có giá trị"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let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user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null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5. UNDEFINED — quên gán giá trị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let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address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 </a:t>
            </a:r>
            <a:r>
              <a:rPr sz="1300">
                <a:solidFill>
                  <a:srgbClr val="6A9955"/>
                </a:solidFill>
                <a:latin typeface="Consolas"/>
              </a:rPr>
              <a:t>// undefined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6. ARRAY — danh sách có thứ tự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todos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[</a:t>
            </a:r>
            <a:r>
              <a:rPr sz="1300">
                <a:solidFill>
                  <a:srgbClr val="CE9178"/>
                </a:solidFill>
                <a:latin typeface="Consolas"/>
              </a:rPr>
              <a:t>"HTML"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"CSS"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"JS"</a:t>
            </a:r>
            <a:r>
              <a:rPr sz="1300">
                <a:solidFill>
                  <a:srgbClr val="D4D4D4"/>
                </a:solidFill>
                <a:latin typeface="Consolas"/>
              </a:rPr>
              <a:t>]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7. OBJECT — bản ghi có tên trường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student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CE9178"/>
                </a:solidFill>
                <a:latin typeface="Consolas"/>
              </a:rPr>
              <a:t>"Minh"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age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B5CEA8"/>
                </a:solidFill>
                <a:latin typeface="Consolas"/>
              </a:rPr>
              <a:t>21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10/22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🧩 ANALOGY — SO SÁNH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Kiểu dữ liệu = Loại hộp đựng đồ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Thế giới thực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Lập trình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📦 String = Hộp có nhãn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Chứa chữ, có thể nối lại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🔢 Number = Hộp số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Chứa số nguyên và số thực, tính toán được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✅ Boolean = Hộp đúng/sai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Chỉ 2 giá trị: true hoặc 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❓ null = Hộp trống CỐ Ý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Bạn chủ động để trống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❓ undefined = Hộp CHƯA CÓ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Quên bỏ đồ vào hoặc chưa 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📋 Array = Hộp có ngăn đánh số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[0], [1], [2]... — danh sách có thứ tự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📦 Object = Hộp có ngăn CÓ TÊN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{name, age, email} — bản ghi chi tiết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11/22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Toán tử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Số học, so sánh,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12/22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Toán tử số học + So sánh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Số học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B5CEA8"/>
                </a:solidFill>
                <a:latin typeface="Consolas"/>
              </a:rPr>
              <a:t>10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3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6A9955"/>
                </a:solidFill>
                <a:latin typeface="Consolas"/>
              </a:rPr>
              <a:t>// 13   10 % 3   // 1 (chia dư)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B5CEA8"/>
                </a:solidFill>
                <a:latin typeface="Consolas"/>
              </a:rPr>
              <a:t>10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*</a:t>
            </a:r>
            <a:r>
              <a:rPr sz="1300">
                <a:solidFill>
                  <a:srgbClr val="D4D4D4"/>
                </a:solidFill>
                <a:latin typeface="Consolas"/>
              </a:rPr>
              <a:t>*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2</a:t>
            </a:r>
            <a:r>
              <a:rPr sz="1300">
                <a:solidFill>
                  <a:srgbClr val="D4D4D4"/>
                </a:solidFill>
                <a:latin typeface="Consolas"/>
              </a:rPr>
              <a:t>   </a:t>
            </a:r>
            <a:r>
              <a:rPr sz="1300">
                <a:solidFill>
                  <a:srgbClr val="6A9955"/>
                </a:solidFill>
                <a:latin typeface="Consolas"/>
              </a:rPr>
              <a:t>// 100  x++      // tăng 1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⚠️ So sánh — LUÔN DÙNG ===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B5CEA8"/>
                </a:solidFill>
                <a:latin typeface="Consolas"/>
              </a:rPr>
              <a:t>5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"5"</a:t>
            </a:r>
            <a:r>
              <a:rPr sz="1300">
                <a:solidFill>
                  <a:srgbClr val="D4D4D4"/>
                </a:solidFill>
                <a:latin typeface="Consolas"/>
              </a:rPr>
              <a:t>     </a:t>
            </a:r>
            <a:r>
              <a:rPr sz="1300">
                <a:solidFill>
                  <a:srgbClr val="6A9955"/>
                </a:solidFill>
                <a:latin typeface="Consolas"/>
              </a:rPr>
              <a:t>// true  😱 (tự chuyển type)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B5CEA8"/>
                </a:solidFill>
                <a:latin typeface="Consolas"/>
              </a:rPr>
              <a:t>5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"5"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6A9955"/>
                </a:solidFill>
                <a:latin typeface="Consolas"/>
              </a:rPr>
              <a:t>// false ✅ (an toàn)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false</a:t>
            </a:r>
            <a:r>
              <a:rPr sz="1300">
                <a:solidFill>
                  <a:srgbClr val="D4D4D4"/>
                </a:solidFill>
                <a:latin typeface="Consolas"/>
              </a:rPr>
              <a:t>   </a:t>
            </a:r>
            <a:r>
              <a:rPr sz="1300">
                <a:solidFill>
                  <a:srgbClr val="6A9955"/>
                </a:solidFill>
                <a:latin typeface="Consolas"/>
              </a:rPr>
              <a:t>// true  😱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false</a:t>
            </a:r>
            <a:r>
              <a:rPr sz="1300">
                <a:solidFill>
                  <a:srgbClr val="D4D4D4"/>
                </a:solidFill>
                <a:latin typeface="Consolas"/>
              </a:rPr>
              <a:t>  </a:t>
            </a:r>
            <a:r>
              <a:rPr sz="1300">
                <a:solidFill>
                  <a:srgbClr val="6A9955"/>
                </a:solidFill>
                <a:latin typeface="Consolas"/>
              </a:rPr>
              <a:t>// false ✅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Logic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true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&amp;</a:t>
            </a:r>
            <a:r>
              <a:rPr sz="1300">
                <a:solidFill>
                  <a:srgbClr val="D4D4D4"/>
                </a:solidFill>
                <a:latin typeface="Consolas"/>
              </a:rPr>
              <a:t>&amp;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true</a:t>
            </a:r>
            <a:r>
              <a:rPr sz="1300">
                <a:solidFill>
                  <a:srgbClr val="D4D4D4"/>
                </a:solidFill>
                <a:latin typeface="Consolas"/>
              </a:rPr>
              <a:t>   </a:t>
            </a:r>
            <a:r>
              <a:rPr sz="1300">
                <a:solidFill>
                  <a:srgbClr val="6A9955"/>
                </a:solidFill>
                <a:latin typeface="Consolas"/>
              </a:rPr>
              <a:t>// true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true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|</a:t>
            </a:r>
            <a:r>
              <a:rPr sz="1300">
                <a:solidFill>
                  <a:srgbClr val="D4D4D4"/>
                </a:solidFill>
                <a:latin typeface="Consolas"/>
              </a:rPr>
              <a:t>|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569CD6"/>
                </a:solidFill>
                <a:latin typeface="Consolas"/>
              </a:rPr>
              <a:t>false</a:t>
            </a:r>
            <a:r>
              <a:rPr sz="1300">
                <a:solidFill>
                  <a:srgbClr val="D4D4D4"/>
                </a:solidFill>
                <a:latin typeface="Consolas"/>
              </a:rPr>
              <a:t>  </a:t>
            </a:r>
            <a:r>
              <a:rPr sz="1300">
                <a:solidFill>
                  <a:srgbClr val="6A9955"/>
                </a:solidFill>
                <a:latin typeface="Consolas"/>
              </a:rPr>
              <a:t>// true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!</a:t>
            </a:r>
            <a:r>
              <a:rPr sz="1300">
                <a:solidFill>
                  <a:srgbClr val="569CD6"/>
                </a:solidFill>
                <a:latin typeface="Consolas"/>
              </a:rPr>
              <a:t>true</a:t>
            </a:r>
            <a:r>
              <a:rPr sz="1300">
                <a:solidFill>
                  <a:srgbClr val="D4D4D4"/>
                </a:solidFill>
                <a:latin typeface="Consolas"/>
              </a:rPr>
              <a:t>   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false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13/22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❌ LỖI PHỔ BIẾN + CÁCH SỬA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Bẫy toán tử thường gặp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Lỗi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Nguyên nhân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Cách sửa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"5" + 3 = "53"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+ ưu tiên string → concatenation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Dùng Number() trước khi cộng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"5" - 3 =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- ép sang number tự động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Tốt nhất vẫn convert tường minh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0 == false = 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== tự chuyển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Luôn dùng ===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null + 5 = 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null = 0 khi tính toán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Kiểm tra null trước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14/22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Template Literals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String nâng cao với backtick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15/22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Template Literals — backtick `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"Minh"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score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95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❌ Cách cũ (dùng + nối)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CE9178"/>
                </a:solidFill>
                <a:latin typeface="Consolas"/>
              </a:rPr>
              <a:t>"Chào "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"! Điểm: "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score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✅ Template literal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CE9178"/>
                </a:solidFill>
                <a:latin typeface="Consolas"/>
              </a:rPr>
              <a:t>`Chào ${name}! Điểm: ${score}`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Multi-line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`</a:t>
            </a:r>
            <a:r>
              <a:rPr sz="1300">
                <a:solidFill>
                  <a:srgbClr val="D4D4D4"/>
                </a:solidFill>
                <a:latin typeface="Consolas"/>
              </a:rPr>
              <a:t>Kính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gửi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7BA7D"/>
                </a:solidFill>
                <a:latin typeface="Consolas"/>
              </a:rPr>
              <a:t>${name}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iểm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7BA7D"/>
                </a:solidFill>
                <a:latin typeface="Consolas"/>
              </a:rPr>
              <a:t>${score}</a:t>
            </a:r>
            <a:r>
              <a:rPr sz="1300">
                <a:solidFill>
                  <a:srgbClr val="D4D4D4"/>
                </a:solidFill>
                <a:latin typeface="Consolas"/>
              </a:rPr>
              <a:t>/</a:t>
            </a:r>
            <a:r>
              <a:rPr sz="1300">
                <a:solidFill>
                  <a:srgbClr val="B5CEA8"/>
                </a:solidFill>
                <a:latin typeface="Consolas"/>
              </a:rPr>
              <a:t>100</a:t>
            </a:r>
            <a:r>
              <a:rPr sz="1300">
                <a:solidFill>
                  <a:srgbClr val="D4D4D4"/>
                </a:solidFill>
                <a:latin typeface="Consolas"/>
              </a:rPr>
              <a:t>`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Expression bên trong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CE9178"/>
                </a:solidFill>
                <a:latin typeface="Consolas"/>
              </a:rPr>
              <a:t>`Giá: ${(price * 1.1).toLocaleString()}đ`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16/22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📖 GIẢI THÍCH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1E293B"/>
                </a:solidFill>
                <a:latin typeface="Aptos"/>
              </a:rPr>
              <a:t>Naming conventions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camelCase — cho variables, functions: userName, calculateTotal()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SCREAMING_SNAKE_CASE — cho constants: MAX_RETRY, API_BASE_URL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PascalCase — cho Classes: UserProfile, ShoppingCart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✅ productPrice vs ❌ x (không hiểu nghĩa)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2563EB"/>
                </a:solidFill>
                <a:latin typeface="Aptos"/>
              </a:rPr>
              <a:t>●  </a:t>
            </a:r>
            <a:r>
              <a:rPr sz="1600">
                <a:solidFill>
                  <a:srgbClr val="1E293B"/>
                </a:solidFill>
                <a:latin typeface="Aptos"/>
              </a:rPr>
              <a:t>✅ isProductAvailable vs ❌ flag (mơ hồ)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17/22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❓ KIỂM TRA NHANH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Chọn đáp án đúng: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C1. Khi nào dùng const vs let?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A. Luôn dùng const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B. const mặc định, let khi cần reassign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C. let mặc định, const cho hằng số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Không khác nhau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C2. Kết quả của "3" + 4 là gì?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947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A.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B. "34"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C. 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undefined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C3. 5 === '5' trả về giá trị nào?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235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A. true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436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B. false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2636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C. undefined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5836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TypeError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18/22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📌 TÓM TẮT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1. const là mặc định — let khi cần thay đổi — không bao giờ var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2. 7 kiểu: String, Number, Boolean, Null, Undefined, Array, Object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3. === luôn dùng thay vì == — tránh type coercion bugs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4. Template literal (backtick) thay thế nối string bằng +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5. const với Object/Array: đổi nội dung OK, đổi reference = lỗi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19/22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📚 TỪ ĐIỂN THUẬT NGỮ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Thuật ngữ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Ý nghĩa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const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Khai báo biến không thể reassign (khóa reference)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let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Khai báo biến có thể reassign, block scope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var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Khai báo biến legacy (1995), function scope, TRÁNH DÙNG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Template literal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String dùng backtick ``, hỗ trợ ${expression}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Type coercion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JS tự động chuyển kiểu khi toán tử khác kiểu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camelCase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Convention đặt tên: userName, calculateTotal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20/22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❓ FAQ — CÂU HỎI THƯỜNG GẶP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Tại sao không dùng var?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var có function scope (không block scope), hoisting gây undefined bất ngờ, cho phép khai báo lại âm thầm → bugs khó tìm.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const với object có bất biến không?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Không! const chỉ khóa reference (không đổi = {} khác). Nội dung bên trong (properties, elements) vẫn sửa được.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20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Khi nào dùng backtick vs quote đơn/kép?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Backtick khi cần ${} hoặc multi-line. Quote đơn/kép cho string thường — tùy team convention.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21/22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800" b="1">
                <a:solidFill>
                  <a:srgbClr val="1E293B"/>
                </a:solidFill>
                <a:latin typeface="Aptos Display"/>
              </a:rPr>
              <a:t>➡️ Bài tiếp theo: Type Coercion &amp; Truthy/Falsy
"5" + 3 = "53"? [] == false? JavaScript thật kỳ lạ...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02 — Variables &amp; Operators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22/22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Narrow</vt:lpstr>
      <vt:lpstr>Arial</vt:lpstr>
      <vt:lpstr>Calibri</vt:lpstr>
      <vt:lpstr>Noto Sans Symbols</vt:lpstr>
      <vt:lpstr>Roboto Condensed</vt:lpstr>
      <vt:lpstr>1_Office Theme</vt:lpstr>
      <vt:lpstr>CSE441 – Phát triển ứng dụng cho thiết bị di động</vt:lpstr>
      <vt:lpstr>Bài 1. Kiến thức chung và môi trường phát triển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Kieu Tuan Dung</dc:creator>
  <cp:lastModifiedBy>Kieu Tuan Dung</cp:lastModifiedBy>
  <cp:revision>1</cp:revision>
  <dcterms:created xsi:type="dcterms:W3CDTF">2026-05-14T01:24:57Z</dcterms:created>
  <dcterms:modified xsi:type="dcterms:W3CDTF">2026-05-14T01:25:19Z</dcterms:modified>
</cp:coreProperties>
</file>