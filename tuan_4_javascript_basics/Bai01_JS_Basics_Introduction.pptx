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27508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5-14T02:04:27.7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2406 5518 0,'-29'0'47,"0"0"-31,-30 29 15,59 118-15,0 58-16,0 1 15,59 28-15,-1-28 16,-28-118-16,-1-29 16,-29-30-16,0 0 15,0 1-15,0-1 31,0 0-31,0 1 16,0-1 0,-59 1-16,1-1 15,58 0-15,-30-29 16,1 30-16,0-30 16,-1 0-16,1 0 15,29 29-15,-29-29 16,29 59 31,0-30-32,29 30 1,0-1-16,89 1 0,-118 0 16,29 0-16,0 29 15,-29-30-15,0 89 16,0-30-1,0 30-15,0-29 16,0 58-16,0-88 0,0-29 16,0-1-1,0 30-15,0-58 16,0 58-16,0-30 16,-29 1-16,0 29 15,29-58-15,0-1 16,0 0-16,-30-29 15</inkml:trace>
  <inkml:trace contextRef="#ctx0" brushRef="#br0" timeOffset="33337.37">7718 4549 0,'88'0'93,"-29"0"-93,58 0 16,-29 29-16,89-29 16,87 0-16,-30 0 15,1 0-15,-59 0 16,118 0-16,-148 0 15,-28 0-15,-30 0 16,0 0-16,0 0 16,0 0-16,-29 0 15,-1 0-15,-28 0 16,28 0 0,-28 0-16,-1 0 15,30 0-15,0 0 16,-1 0-1,1 0 1,0 0-16,-1 0 16,1 0-16,-30 0 15,30 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4A851-E951-410D-9A38-F50A6676757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D9861-D625-4932-B10D-1A3868D65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3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5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8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/>
          <p:nvPr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" name="Google Shape;18;p25"/>
          <p:cNvCxnSpPr/>
          <p:nvPr/>
        </p:nvCxnSpPr>
        <p:spPr>
          <a:xfrm>
            <a:off x="520878" y="3287006"/>
            <a:ext cx="911199" cy="0"/>
          </a:xfrm>
          <a:prstGeom prst="straightConnector1">
            <a:avLst/>
          </a:prstGeom>
          <a:noFill/>
          <a:ln w="28575" cap="flat" cmpd="sng">
            <a:solidFill>
              <a:srgbClr val="D2492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25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" name="Google Shape;21;p25"/>
          <p:cNvPicPr preferRelativeResize="0"/>
          <p:nvPr userDrawn="1"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6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" name="Google Shape;2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99" y="6321112"/>
            <a:ext cx="3096846" cy="515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991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/>
          <p:nvPr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A2BD"/>
              </a:buClr>
              <a:buSzPts val="2400"/>
              <a:buNone/>
              <a:defRPr sz="24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583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 flipH="1">
            <a:off x="0" y="6460732"/>
            <a:ext cx="12192000" cy="396991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21314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0070C0"/>
              </a:solidFill>
              <a:latin typeface="Aptos Narrow" panose="020B000402020202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346841" y="133906"/>
            <a:ext cx="11466787" cy="82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000"/>
              <a:buFont typeface="Arial"/>
              <a:buNone/>
              <a:defRPr sz="3000">
                <a:solidFill>
                  <a:srgbClr val="21314D"/>
                </a:solidFill>
                <a:latin typeface="Aptos Narrow" panose="020B00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346841" y="1089401"/>
            <a:ext cx="11466787" cy="5087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  <a:defRPr sz="2200">
                <a:latin typeface="Aptos Narrow" panose="020B0004020202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0" name="Google Shape;40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1" name="Google Shape;41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3" name="Google Shape;43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0378" y="6350423"/>
            <a:ext cx="2987381" cy="49696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708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/>
          <p:nvPr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>
              <a:alpha val="93725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9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293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30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0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499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1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1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56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32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2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4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33"/>
          <p:cNvSpPr txBox="1"/>
          <p:nvPr/>
        </p:nvSpPr>
        <p:spPr>
          <a:xfrm>
            <a:off x="838202" y="5746528"/>
            <a:ext cx="13016751" cy="7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</a:pPr>
            <a:endParaRPr/>
          </a:p>
        </p:txBody>
      </p:sp>
      <p:sp>
        <p:nvSpPr>
          <p:cNvPr id="93" name="Google Shape;93;p33"/>
          <p:cNvSpPr>
            <a:spLocks noGrp="1"/>
          </p:cNvSpPr>
          <p:nvPr>
            <p:ph type="pic" idx="2"/>
          </p:nvPr>
        </p:nvSpPr>
        <p:spPr>
          <a:xfrm>
            <a:off x="0" y="1"/>
            <a:ext cx="12192000" cy="557703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924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body" idx="1"/>
          </p:nvPr>
        </p:nvSpPr>
        <p:spPr>
          <a:xfrm>
            <a:off x="7060253" y="3052261"/>
            <a:ext cx="4862404" cy="197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>
            <a:spLocks noGrp="1"/>
          </p:cNvSpPr>
          <p:nvPr>
            <p:ph type="pic" idx="2"/>
          </p:nvPr>
        </p:nvSpPr>
        <p:spPr>
          <a:xfrm>
            <a:off x="0" y="3"/>
            <a:ext cx="6890995" cy="685799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8" name="Google Shape;98;p34"/>
          <p:cNvSpPr txBox="1"/>
          <p:nvPr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072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200"/>
              <a:buFont typeface="Arial"/>
              <a:buNone/>
              <a:defRPr sz="3200"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5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5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77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6"/>
          <p:cNvSpPr/>
          <p:nvPr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6"/>
          <p:cNvSpPr txBox="1">
            <a:spLocks noGrp="1"/>
          </p:cNvSpPr>
          <p:nvPr>
            <p:ph type="title"/>
          </p:nvPr>
        </p:nvSpPr>
        <p:spPr>
          <a:xfrm>
            <a:off x="450058" y="472281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6"/>
          <p:cNvSpPr>
            <a:spLocks noGrp="1"/>
          </p:cNvSpPr>
          <p:nvPr>
            <p:ph type="pic" idx="2"/>
          </p:nvPr>
        </p:nvSpPr>
        <p:spPr>
          <a:xfrm>
            <a:off x="5183189" y="2"/>
            <a:ext cx="7008812" cy="685799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Google Shape;113;p36"/>
          <p:cNvSpPr txBox="1">
            <a:spLocks noGrp="1"/>
          </p:cNvSpPr>
          <p:nvPr>
            <p:ph type="body" idx="1"/>
          </p:nvPr>
        </p:nvSpPr>
        <p:spPr>
          <a:xfrm>
            <a:off x="450058" y="207248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8124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37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7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6473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8"/>
          <p:cNvSpPr txBox="1">
            <a:spLocks noGrp="1"/>
          </p:cNvSpPr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8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38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8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" name="Google Shape;135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733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/>
          <p:nvPr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28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552941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8"/>
          <p:cNvSpPr txBox="1">
            <a:spLocks noGrp="1"/>
          </p:cNvSpPr>
          <p:nvPr>
            <p:ph type="subTitle" idx="1"/>
          </p:nvPr>
        </p:nvSpPr>
        <p:spPr>
          <a:xfrm>
            <a:off x="2046399" y="253109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159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21051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CSE441</a:t>
            </a:r>
            <a:r>
              <a:rPr lang="en-US" sz="4000"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Phát triển ứng dụng cho thiết bị di động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2" name="Google Shape;142;p1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</a:rPr>
              <a:t>dungkt@tlu.edu.vn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Google Shape;328;p22">
            <a:extLst>
              <a:ext uri="{FF2B5EF4-FFF2-40B4-BE49-F238E27FC236}">
                <a16:creationId xmlns:a16="http://schemas.microsoft.com/office/drawing/2014/main" id="{C3F62ED3-5DD4-D133-B737-5A7F343179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4416" y="2650191"/>
            <a:ext cx="1693017" cy="24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4C8C5F-AFE0-6FF5-62A1-799B060F92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377"/>
          <a:stretch/>
        </p:blipFill>
        <p:spPr>
          <a:xfrm>
            <a:off x="5407451" y="478699"/>
            <a:ext cx="1377099" cy="13775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Bài </a:t>
            </a:r>
            <a:r>
              <a:rPr lang="en-US" sz="3600">
                <a:latin typeface="Roboto Condensed" panose="02000000000000000000" pitchFamily="2" charset="0"/>
                <a:ea typeface="Roboto Condensed" panose="02000000000000000000" pitchFamily="2" charset="0"/>
              </a:rPr>
              <a:t>1. </a:t>
            </a: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Giới thiệu Javascript</a:t>
            </a:r>
            <a:endParaRPr sz="360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7738A0-7AE4-C6CA-109F-DFE801700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644" y="813481"/>
            <a:ext cx="5170713" cy="2615519"/>
          </a:xfrm>
          <a:prstGeom prst="roundRect">
            <a:avLst>
              <a:gd name="adj" fmla="val 7095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🎬 TÌNH HUỐNG KHỞI ĐỘNG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Minh hoàn thành Todo App: form đẹp, layout responsive, CSS animations mượt mà.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endParaRPr sz="2000" b="0">
              <a:solidFill>
                <a:srgbClr val="1E293B"/>
              </a:solidFill>
              <a:latin typeface="Aptos"/>
            </a:endParaRP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👉 Nhấn nút 'Thêm công việc' → không có gì xảy ra.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👉 Gõ text vào ô → nhấn Enter → không có gì xảy ra.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endParaRPr sz="2000" b="0">
              <a:solidFill>
                <a:srgbClr val="1E293B"/>
              </a:solidFill>
              <a:latin typeface="Aptos"/>
            </a:endParaRP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"Trang web đẹp nhưng... chết," Minh nói.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"Giống showroom xe: nội thất sang trọng, sơn bóng loáng nhưng không có động cơ."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endParaRPr sz="2000" b="0">
              <a:solidFill>
                <a:srgbClr val="1E293B"/>
              </a:solidFill>
              <a:latin typeface="Aptos"/>
            </a:endParaRP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💡 "HTML = khung xe. CSS = sơn nội thất. JavaScript = động cơ."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1/22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FF71F39-F813-5A3E-F582-540D13958754}"/>
                  </a:ext>
                </a:extLst>
              </p14:cNvPr>
              <p14:cNvContentPartPr/>
              <p14:nvPr/>
            </p14:nvContentPartPr>
            <p14:xfrm>
              <a:off x="781920" y="1637640"/>
              <a:ext cx="3116880" cy="1595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FF71F39-F813-5A3E-F582-540D139587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2560" y="1628280"/>
                <a:ext cx="3135600" cy="161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🎯 MỤC TIÊU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Sau bài này, các bạn sẽ: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Hiểu JavaScript là gì và vai trò trong phát triển web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Biết cách nhúng JS vào HTML (3 cách)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Sử dụng Console để thử nghiệm JS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Phân biệt JavaScript vs Java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Hiểu tại sao học Vanilla JS trước framework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Viết và chạy file JS đầu tiên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🗺️ LỘ TRÌNH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430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JavaScript là gì? — Vai trò trong web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Cách nhúng JS vào HTML — 3 phương pháp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3️⃣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2316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Console — Công cụ debug số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19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39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4️⃣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63239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JS ≠ Java — Phân biệt rõ ràng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5️⃣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033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Thực hành — File JS đầu tiên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6️⃣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434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Quiz + Tổng kết + FAQ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3/22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JavaScript là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Ngôn ngữ duy nhất của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4/22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📖 GIẢI THÍCH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293B"/>
                </a:solidFill>
                <a:latin typeface="Aptos"/>
              </a:rPr>
              <a:t>Vai trò của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JS = ngôn ngữ LẬP TRÌNH của web (HTML = cấu trúc, CSS = giao diện)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Mọi tương tác bạn thấy trên web đều từ JS: like, scroll, autocomplete, animation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JS chạy TRỰC TIẾP trên browser — không cần compile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Ngoài browser: Node.js (server), React Native (mobile), Electron (desktop)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5/22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🧩 ANALOGY — SO SÁNH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Web Development = Xây nhà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Thế giới thực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Lập trình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🏗️ Khung nhà, tường, mái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HTML — Cấu trúc nội dung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🎨 Sơn, nội thất, đèn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CSS — Giao diện, màu sắc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⚡ Điện, nước, điều hòa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JavaScript — Tương tác,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Không có điện = nhà tối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Không có JS = trang web tĩnh, không tương tác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6/22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📖 GIẢI THÍCH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293B"/>
                </a:solidFill>
                <a:latin typeface="Aptos"/>
              </a:rPr>
              <a:t>JavaScript ở khắp nơi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Frontend: React, Vue, Angular — xây UI phức tạp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Backend: Node.js, Express — API, database, server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Mobile: React Native — app iOS &amp; Android từ 1 codebase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Desktop: Electron — VS Code, Discord, Slack, Figma đều viết bằng JS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7/22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Cách nhúng JS vào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3 phương pháp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8/22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Cách 1: External file (chuẩn production)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&lt;!-- index.html --&gt;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&lt;body&gt;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&lt;h1&gt;📝 Todo App&lt;/h1&gt;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endParaRPr sz="130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&lt;!-- ✅ Script  CUỐI body --&gt;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&lt;script src=</a:t>
            </a:r>
            <a:r>
              <a:rPr sz="1300">
                <a:solidFill>
                  <a:srgbClr val="CE9178"/>
                </a:solidFill>
                <a:latin typeface="Consolas"/>
              </a:rPr>
              <a:t>"app.js"</a:t>
            </a:r>
            <a:r>
              <a:rPr sz="1300">
                <a:solidFill>
                  <a:srgbClr val="D4D4D4"/>
                </a:solidFill>
                <a:latin typeface="Consolas"/>
              </a:rPr>
              <a:t>&gt;&lt;/script&gt;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&lt;/body&gt;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9/22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Cách 2: Inline script + Cách 3: defer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app.js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console</a:t>
            </a:r>
            <a:r>
              <a:rPr sz="1300">
                <a:solidFill>
                  <a:srgbClr val="D4D4D4"/>
                </a:solidFill>
                <a:latin typeface="Consolas"/>
              </a:rPr>
              <a:t>.log(</a:t>
            </a:r>
            <a:r>
              <a:rPr sz="1300">
                <a:solidFill>
                  <a:srgbClr val="CE9178"/>
                </a:solidFill>
                <a:latin typeface="Consolas"/>
              </a:rPr>
              <a:t>"App loaded!"</a:t>
            </a:r>
            <a:r>
              <a:rPr sz="13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document</a:t>
            </a:r>
            <a:r>
              <a:rPr sz="1300">
                <a:solidFill>
                  <a:srgbClr val="D4D4D4"/>
                </a:solidFill>
                <a:latin typeface="Consolas"/>
              </a:rPr>
              <a:t>.querySelector(</a:t>
            </a:r>
            <a:r>
              <a:rPr sz="1300">
                <a:solidFill>
                  <a:srgbClr val="CE9178"/>
                </a:solidFill>
                <a:latin typeface="Consolas"/>
              </a:rPr>
              <a:t>"h1"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.textContent = </a:t>
            </a:r>
            <a:r>
              <a:rPr sz="1300">
                <a:solidFill>
                  <a:srgbClr val="CE9178"/>
                </a:solidFill>
                <a:latin typeface="Consolas"/>
              </a:rPr>
              <a:t>"Todo App của Minh"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endParaRPr sz="130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── defer attribute ──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&lt;head&gt;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    &lt;script src="app.js" defer&gt;&lt;/script&gt;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&lt;/head&gt;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defer = tải song song, chạy SAU khi DOM 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10/22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🧩 ANALOGY — SO SÁNH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Script placement = Bếp trong nhà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058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Thế giới thực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Lập trình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🍳 Bếp ở cuối nhà (sau phòng khách)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&lt;script&gt; cuối &lt;body&gt; — an toàn, HTML load xong mới chạy 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🍳 Bếp ở đầu nhà + hẹn giờ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&lt;script defer&gt; — đặt trong &lt;head&gt; nhưng đợi HTML xong mới chạy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🍳 Bếp ở đầu nhà, chạy ngay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&lt;script&gt; trong &lt;head&gt; không defer — NGUY HIỂM, DOM chưa sẵn sàng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11/22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❌ LỖI PHỔ BIẾN + CÁCH SỬA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Lỗi thường gặp khi nhúng JS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Lỗi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Nguyên nhân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Cách sửa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Cannot read properties of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&lt;script&gt; trong &lt;head&gt; không defer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Đặt cuối &lt;body&gt; hoặc thêm defer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Uncaught ReferenceError: xxx not defined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Sai tên file JS hoặc thiếu script tag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Kiểm tra Network tab → status 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Unexpected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Thiếu ;, ), } hoặc thừa ,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Đọc dòng lỗi, kiểm tra cú pháp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JS không chạy gì cả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Sai đường dẫn file .js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Kiểm tra src="app.js" chính xác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12/22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Công cụ debug số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13/22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Khám phá Console — DevTools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F12 → Tab Console → Gõ và Enter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endParaRPr sz="130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console</a:t>
            </a:r>
            <a:r>
              <a:rPr sz="1300">
                <a:solidFill>
                  <a:srgbClr val="D4D4D4"/>
                </a:solidFill>
                <a:latin typeface="Consolas"/>
              </a:rPr>
              <a:t>.log(</a:t>
            </a:r>
            <a:r>
              <a:rPr sz="1300">
                <a:solidFill>
                  <a:srgbClr val="CE9178"/>
                </a:solidFill>
                <a:latin typeface="Consolas"/>
              </a:rPr>
              <a:t>"Hello, World!"</a:t>
            </a:r>
            <a:r>
              <a:rPr sz="13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console</a:t>
            </a:r>
            <a:r>
              <a:rPr sz="1300">
                <a:solidFill>
                  <a:srgbClr val="D4D4D4"/>
                </a:solidFill>
                <a:latin typeface="Consolas"/>
              </a:rPr>
              <a:t>.warn(</a:t>
            </a:r>
            <a:r>
              <a:rPr sz="1300">
                <a:solidFill>
                  <a:srgbClr val="CE9178"/>
                </a:solidFill>
                <a:latin typeface="Consolas"/>
              </a:rPr>
              <a:t>"Cảnh báo ⚠️"</a:t>
            </a:r>
            <a:r>
              <a:rPr sz="13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console</a:t>
            </a:r>
            <a:r>
              <a:rPr sz="1300">
                <a:solidFill>
                  <a:srgbClr val="D4D4D4"/>
                </a:solidFill>
                <a:latin typeface="Consolas"/>
              </a:rPr>
              <a:t>.error(</a:t>
            </a:r>
            <a:r>
              <a:rPr sz="1300">
                <a:solidFill>
                  <a:srgbClr val="CE9178"/>
                </a:solidFill>
                <a:latin typeface="Consolas"/>
              </a:rPr>
              <a:t>"Lỗi ❌"</a:t>
            </a:r>
            <a:r>
              <a:rPr sz="13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endParaRPr sz="130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console</a:t>
            </a:r>
            <a:r>
              <a:rPr sz="1300">
                <a:solidFill>
                  <a:srgbClr val="D4D4D4"/>
                </a:solidFill>
                <a:latin typeface="Consolas"/>
              </a:rPr>
              <a:t>.table([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{ name: </a:t>
            </a:r>
            <a:r>
              <a:rPr sz="1300">
                <a:solidFill>
                  <a:srgbClr val="CE9178"/>
                </a:solidFill>
                <a:latin typeface="Consolas"/>
              </a:rPr>
              <a:t>"Minh"</a:t>
            </a:r>
            <a:r>
              <a:rPr sz="1300">
                <a:solidFill>
                  <a:srgbClr val="D4D4D4"/>
                </a:solidFill>
                <a:latin typeface="Consolas"/>
              </a:rPr>
              <a:t>, age: </a:t>
            </a:r>
            <a:r>
              <a:rPr sz="1300">
                <a:solidFill>
                  <a:srgbClr val="B5CEA8"/>
                </a:solidFill>
                <a:latin typeface="Consolas"/>
              </a:rPr>
              <a:t>21</a:t>
            </a:r>
            <a:r>
              <a:rPr sz="1300">
                <a:solidFill>
                  <a:srgbClr val="D4D4D4"/>
                </a:solidFill>
                <a:latin typeface="Consolas"/>
              </a:rPr>
              <a:t> },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{ name: </a:t>
            </a:r>
            <a:r>
              <a:rPr sz="1300">
                <a:solidFill>
                  <a:srgbClr val="CE9178"/>
                </a:solidFill>
                <a:latin typeface="Consolas"/>
              </a:rPr>
              <a:t>"Linh"</a:t>
            </a:r>
            <a:r>
              <a:rPr sz="1300">
                <a:solidFill>
                  <a:srgbClr val="D4D4D4"/>
                </a:solidFill>
                <a:latin typeface="Consolas"/>
              </a:rPr>
              <a:t>, age: </a:t>
            </a:r>
            <a:r>
              <a:rPr sz="1300">
                <a:solidFill>
                  <a:srgbClr val="B5CEA8"/>
                </a:solidFill>
                <a:latin typeface="Consolas"/>
              </a:rPr>
              <a:t>20</a:t>
            </a:r>
            <a:r>
              <a:rPr sz="1300">
                <a:solidFill>
                  <a:srgbClr val="D4D4D4"/>
                </a:solidFill>
                <a:latin typeface="Consolas"/>
              </a:rPr>
              <a:t> }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]);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endParaRPr sz="130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Thay đổi trang web NGAY!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document</a:t>
            </a:r>
            <a:r>
              <a:rPr sz="1300">
                <a:solidFill>
                  <a:srgbClr val="D4D4D4"/>
                </a:solidFill>
                <a:latin typeface="Consolas"/>
              </a:rPr>
              <a:t>.title = </a:t>
            </a:r>
            <a:r>
              <a:rPr sz="1300">
                <a:solidFill>
                  <a:srgbClr val="CE9178"/>
                </a:solidFill>
                <a:latin typeface="Consolas"/>
              </a:rPr>
              <a:t>"Đã hack!"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document</a:t>
            </a:r>
            <a:r>
              <a:rPr sz="1300">
                <a:solidFill>
                  <a:srgbClr val="D4D4D4"/>
                </a:solidFill>
                <a:latin typeface="Consolas"/>
              </a:rPr>
              <a:t>.body.style.background = </a:t>
            </a:r>
            <a:r>
              <a:rPr sz="1300">
                <a:solidFill>
                  <a:srgbClr val="CE9178"/>
                </a:solidFill>
                <a:latin typeface="Consolas"/>
              </a:rPr>
              <a:t>"red"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14/22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📖 GIẢI THÍCH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293B"/>
                </a:solidFill>
                <a:latin typeface="Aptos"/>
              </a:rPr>
              <a:t>Các mức log trong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console.log() — thông tin thường (màu xám/trắng)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console.warn() — cảnh báo (màu vàng, icon ⚠️)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console.error() — lỗi nghiêm trọng (màu đỏ, icon ❌)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console.table() — hiện array/object dạng bảng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console.time() / timeEnd() — đo thời gian thực thi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15/22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📊 BẢNG SO SÁNH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JavaScript ≠ Java — Hoàn toàn khác nhau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9601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JavaScript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Java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Tên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Marketing (1995)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Ngôn ngữ riêng biệt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Chạy 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Browser + Node.js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JVM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Gõ kiểu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Dynamic typing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Static typing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Dùng cho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Web frontend/backend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Enterprise, Android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Liên quan?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❌ Không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❌ Không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16/22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🛠️ THỰC HÀNH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🛠️ Bài tập: Khám phá JS trong Console (15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500">
                <a:solidFill>
                  <a:srgbClr val="1E293B"/>
                </a:solidFill>
                <a:latin typeface="Aptos"/>
              </a:rPr>
              <a:t>1. Mở Chrome → F12 → tab Console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500">
                <a:solidFill>
                  <a:srgbClr val="1E293B"/>
                </a:solidFill>
                <a:latin typeface="Aptos"/>
              </a:rPr>
              <a:t>2. document.title = 'Tôi đã hack Shopee' → Enter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500">
                <a:solidFill>
                  <a:srgbClr val="1E293B"/>
                </a:solidFill>
                <a:latin typeface="Aptos"/>
              </a:rPr>
              <a:t>3. document.body.style.background = 'red' → Enter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500">
                <a:solidFill>
                  <a:srgbClr val="1E293B"/>
                </a:solidFill>
                <a:latin typeface="Aptos"/>
              </a:rPr>
              <a:t>4. document.querySelectorAll('a').length → Enter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500">
                <a:solidFill>
                  <a:srgbClr val="1E293B"/>
                </a:solidFill>
                <a:latin typeface="Aptos"/>
              </a:rPr>
              <a:t>5. console.table([...document.querySelectorAll('a')].map(a=&gt;({text:a.textContent,href:a.href})))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500">
                <a:solidFill>
                  <a:srgbClr val="1E293B"/>
                </a:solidFill>
                <a:latin typeface="Aptos"/>
              </a:rPr>
              <a:t>6. Refresh trang → Các thay đổi còn không? Tại sao?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500">
                <a:solidFill>
                  <a:srgbClr val="1E293B"/>
                </a:solidFill>
                <a:latin typeface="Aptos"/>
              </a:rPr>
              <a:t>📝 Tạo file hello.html + app.js: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500">
                <a:solidFill>
                  <a:srgbClr val="1E293B"/>
                </a:solidFill>
                <a:latin typeface="Aptos"/>
              </a:rPr>
              <a:t>   setTimeout(() =&gt; { h1.textContent = 'JS đã thay đổi!'; }, 2000);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17/22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❓ KIỂM TRA NHANH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Chọn đáp án đúng: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C1. Tại sao &lt;script&gt; nên đặt cuối &lt;body&gt;?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Để HTML load nhanh hơn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B. Vì JS cần DOM parse xong trước khi truy cập elements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C. Để file JS nhỏ hơn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Không có lý do cụ thể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C2. Attribute nào cho phép đặt &lt;script&gt; trong &lt;head&gt; mà vẫn OK?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async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B.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C. defer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reload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C3. document.title = 'X' thay đổi cái gì?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235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Nội dung trang 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B. URL trang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2636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C. Tiêu đề tab browser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5836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Màu nền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18/22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📌 TÓM TẮT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1. JavaScript = ngôn ngữ duy nhất chạy trực tiếp trên browser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2. 3 cách nhúng JS: external file, inline, defer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3. &lt;script&gt; đặt cuối &lt;body&gt; hoặc dùng defer attribute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4. Console = công cụ debug số 1: log, warn, error, table, time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5. JavaScript ≠ Java — không liên quan về kỹ thuật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6. Học Vanilla JS trước framework — framework build on top of JS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19/22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📚 TỪ ĐIỂN THUẬT NGỮ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Thuật ngữ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Ý nghĩa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Ngôn ngữ lập trình chạy trên browser, dùng cho web interactivity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Document Object Model — cây cấu trúc HTML mà JS có thể thay đổi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Console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Bảng điều khiển trong DevTools để thử code và debug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defer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Attribute cho &lt;script&gt;: tải song song, chạy sau khi DOM ready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Vanilla 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JavaScript thuần, không dùng framework/library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DevTools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Công cụ developer tích hợp trong browser (F12)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20/22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❓ FAQ — CÂU HỎI THƯỜNG GẶP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Có cần cài gì để học JS không?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Không! Chỉ cần browser (Chrome) và text editor (VS Code). JS chạy trực tiếp trên browser.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Nên dùng Chrome hay Firefox để học?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Chrome — DevTools mạnh nhất, phổ biến nhất, nhiều extension hỗ trợ.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20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JS và TypeScript khác gì nhau?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TypeScript = JS + static typing. Học JS trước, sau đó mới học TS nếu cần.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21/22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800" b="1">
                <a:solidFill>
                  <a:srgbClr val="1E293B"/>
                </a:solidFill>
                <a:latin typeface="Aptos Display"/>
              </a:rPr>
              <a:t>➡️ Bài tiếp theo: Variables &amp; Operators
"Mình cần lưu tên todo, đếm số lượng, tính tổng. Mình cần biến."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01 — JavaScript Basics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1808</Words>
  <Application>Microsoft Office PowerPoint</Application>
  <PresentationFormat>Widescreen</PresentationFormat>
  <Paragraphs>260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Aptos Narrow</vt:lpstr>
      <vt:lpstr>Arial</vt:lpstr>
      <vt:lpstr>Calibri</vt:lpstr>
      <vt:lpstr>Consolas</vt:lpstr>
      <vt:lpstr>Noto Sans Symbols</vt:lpstr>
      <vt:lpstr>Roboto Condensed</vt:lpstr>
      <vt:lpstr>1_Office Theme</vt:lpstr>
      <vt:lpstr>CSE441 – Phát triển ứng dụng cho thiết bị di động</vt:lpstr>
      <vt:lpstr>Bài 1. Giới thiệu Javascript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Kieu Tuan Dung</dc:creator>
  <cp:lastModifiedBy>Kieu Tuan Dung</cp:lastModifiedBy>
  <cp:revision>2</cp:revision>
  <dcterms:created xsi:type="dcterms:W3CDTF">2026-05-14T01:24:57Z</dcterms:created>
  <dcterms:modified xsi:type="dcterms:W3CDTF">2026-05-14T03:34:42Z</dcterms:modified>
</cp:coreProperties>
</file>