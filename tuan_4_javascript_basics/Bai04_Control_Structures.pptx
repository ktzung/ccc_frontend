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4A851-E951-410D-9A38-F50A6676757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D9861-D625-4932-B10D-1A3868D65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5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8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/>
          <p:nvPr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25"/>
          <p:cNvCxnSpPr/>
          <p:nvPr/>
        </p:nvCxnSpPr>
        <p:spPr>
          <a:xfrm>
            <a:off x="520878" y="3287006"/>
            <a:ext cx="911199" cy="0"/>
          </a:xfrm>
          <a:prstGeom prst="straightConnector1">
            <a:avLst/>
          </a:prstGeom>
          <a:noFill/>
          <a:ln w="28575" cap="flat" cmpd="sng">
            <a:solidFill>
              <a:srgbClr val="D2492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5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5"/>
          <p:cNvPicPr preferRelativeResize="0"/>
          <p:nvPr userDrawn="1"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6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9" y="6321112"/>
            <a:ext cx="3096846" cy="515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/>
          <p:nvPr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A2BD"/>
              </a:buClr>
              <a:buSzPts val="2400"/>
              <a:buNone/>
              <a:defRPr sz="24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8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 flipH="1">
            <a:off x="0" y="6460732"/>
            <a:ext cx="12192000" cy="39699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21314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0070C0"/>
              </a:solidFill>
              <a:latin typeface="Aptos Narrow" panose="020B00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346841" y="133906"/>
            <a:ext cx="11466787" cy="82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000"/>
              <a:buFont typeface="Arial"/>
              <a:buNone/>
              <a:defRPr sz="3000">
                <a:solidFill>
                  <a:srgbClr val="21314D"/>
                </a:solidFill>
                <a:latin typeface="Aptos Narrow" panose="020B00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346841" y="1089401"/>
            <a:ext cx="11466787" cy="508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  <a:defRPr sz="2200">
                <a:latin typeface="Aptos Narrow" panose="020B0004020202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0" name="Google Shape;40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1" name="Google Shape;41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378" y="6350423"/>
            <a:ext cx="2987381" cy="49696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708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/>
          <p:nvPr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>
              <a:alpha val="93725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9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57" name="Google Shape;5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93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0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0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67" name="Google Shape;6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99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79" name="Google Shape;7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56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2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2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87" name="Google Shape;8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4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3"/>
          <p:cNvSpPr txBox="1"/>
          <p:nvPr/>
        </p:nvSpPr>
        <p:spPr>
          <a:xfrm>
            <a:off x="838202" y="5746528"/>
            <a:ext cx="13016751" cy="7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 sz="44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sp>
        <p:nvSpPr>
          <p:cNvPr id="93" name="Google Shape;93;p33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557703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47924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body" idx="1"/>
          </p:nvPr>
        </p:nvSpPr>
        <p:spPr>
          <a:xfrm>
            <a:off x="7060253" y="3052261"/>
            <a:ext cx="4862404" cy="197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>
            <a:spLocks noGrp="1"/>
          </p:cNvSpPr>
          <p:nvPr>
            <p:ph type="pic" idx="2"/>
          </p:nvPr>
        </p:nvSpPr>
        <p:spPr>
          <a:xfrm>
            <a:off x="0" y="3"/>
            <a:ext cx="6890995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98" name="Google Shape;98;p34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072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200"/>
              <a:buFont typeface="Arial"/>
              <a:buNone/>
              <a:defRPr sz="3200"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5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5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08" name="Google Shape;10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7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6"/>
          <p:cNvSpPr txBox="1"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6"/>
          <p:cNvSpPr>
            <a:spLocks noGrp="1"/>
          </p:cNvSpPr>
          <p:nvPr>
            <p:ph type="pic" idx="2"/>
          </p:nvPr>
        </p:nvSpPr>
        <p:spPr>
          <a:xfrm>
            <a:off x="5183189" y="2"/>
            <a:ext cx="7008812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13" name="Google Shape;113;p36"/>
          <p:cNvSpPr txBox="1">
            <a:spLocks noGrp="1"/>
          </p:cNvSpPr>
          <p:nvPr>
            <p:ph type="body" idx="1"/>
          </p:nvPr>
        </p:nvSpPr>
        <p:spPr>
          <a:xfrm>
            <a:off x="450058" y="207248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12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7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7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26" name="Google Shape;12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6473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8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8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8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35" name="Google Shape;13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733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28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552941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8"/>
          <p:cNvSpPr txBox="1"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1591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1051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CSE441</a:t>
            </a:r>
            <a:r>
              <a:rPr lang="en-US" sz="4000"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Phát triển ứng dụng cho thiết bị di động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dungkt@tlu.edu.vn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Google Shape;328;p22">
            <a:extLst>
              <a:ext uri="{FF2B5EF4-FFF2-40B4-BE49-F238E27FC236}">
                <a16:creationId xmlns:a16="http://schemas.microsoft.com/office/drawing/2014/main" id="{C3F62ED3-5DD4-D133-B737-5A7F343179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4416" y="2650191"/>
            <a:ext cx="1693017" cy="24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4C8C5F-AFE0-6FF5-62A1-799B060F92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377"/>
          <a:stretch/>
        </p:blipFill>
        <p:spPr>
          <a:xfrm>
            <a:off x="5407451" y="478699"/>
            <a:ext cx="1377099" cy="13775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Bài </a:t>
            </a:r>
            <a:r>
              <a:rPr lang="en-US" sz="3600">
                <a:latin typeface="Roboto Condensed" panose="02000000000000000000" pitchFamily="2" charset="0"/>
                <a:ea typeface="Roboto Condensed" panose="02000000000000000000" pitchFamily="2" charset="0"/>
              </a:rPr>
              <a:t>4. </a:t>
            </a: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Control Structures</a:t>
            </a:r>
            <a:endParaRPr sz="360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7738A0-7AE4-C6CA-109F-DFE801700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4" y="813481"/>
            <a:ext cx="5170713" cy="2615519"/>
          </a:xfrm>
          <a:prstGeom prst="roundRect">
            <a:avLst>
              <a:gd name="adj" fmla="val 7095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🎬 TÌNH HUỐNG KHỞI ĐỘNG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Minh cần render danh sách todos: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• Hoàn thành → gạch ngang, màu xám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• Chưa xong → hiện bình thường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• Quan trọng → chữ đỏ, bold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Ba điều kiện, một danh sách, cần lặp lại cho từng phần tử.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💡 "Không có if/else và for loop, app không thể ra quyết định và không thể xử lý nhiều items."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🎯 MỤC TIÊU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Sau bài này, các bạn sẽ: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Sử dụng if/else if/else cho logic có điều kiện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Áp dụng ternary operator ? : cho câu ngắn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Dùng switch/case cho nhiều nhánh theo giá trị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Viết for loop, while loop, for...of loop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Thành thạo Array Methods: map, filter, reduce, forEach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Kết hợp methods thành pipeline xử lý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🗺️ LỘ TRÌNH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430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if / else if / else — Ra quyết định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Ternary + switch — Cú pháp ngắn gọn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for / while / for...of — Vòng lặp cơ bản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19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3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63239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Array Methods — map, filter, reduce 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Pipeline xử lý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6️⃣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43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Thực hành + Quiz + Tổng kết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3/20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if / else if /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Ra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4/20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if/else if/else + Ternary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score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85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if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score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90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log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"Xuất sắc 🌟"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else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if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score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80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log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"Giỏi 👍"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else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log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"Cần cải thiện 📚"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Ternary — if/else trong 1 dòng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status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score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50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"Đạt"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"Không đạt"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color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priority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"high"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"#dc2626"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"#2563eb"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5/20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switch/case — Nhiều nhánh theo giá trị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day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new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Date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getDay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switch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day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case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case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6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log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"Cuối tuần 🎉"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569CD6"/>
                </a:solidFill>
                <a:latin typeface="Consolas"/>
              </a:rPr>
              <a:t>break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case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log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"Thứ Hai 😴"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569CD6"/>
                </a:solidFill>
                <a:latin typeface="Consolas"/>
              </a:rPr>
              <a:t>break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default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log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"Ngày thường — cày cuốc"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6/20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Vòng lặp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for, while, for...of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7/20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3 loại vòng lặp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for — biết trước số lần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for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569CD6"/>
                </a:solidFill>
                <a:latin typeface="Consolas"/>
              </a:rPr>
              <a:t>let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&lt;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length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log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`${i+1}. ${todos[i]}`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for...of — không cần index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for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todo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of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log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`📌 ${todo}`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while — không biết trước số lần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let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roll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while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roll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!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6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roll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Math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floor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Math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random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*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6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8/20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Array Methods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map, filter, reduce — Dùng hàng ngày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9/20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filter — Lọc mảng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"iPhone"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stock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true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"MacBook"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stock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true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"AirPods"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stock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false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Lọc sản phẩm còn hàng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available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filter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stock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→ [iPhone, MacBook]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Lọc giá dưới 20 triệu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cheap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filter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&lt;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20000000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10/20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map — Biến đổi mảng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Lấy tên sản phẩm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map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→ ["iPhone", "MacBook", "AirPods"]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Giảm giá 10%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discounted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map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salePrice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*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0.9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Render HTML (dùng HÀNG NGÀY trong React!)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html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map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CE9178"/>
                </a:solidFill>
                <a:latin typeface="Consolas"/>
              </a:rPr>
              <a:t>`&lt;li&gt;${p.name}: ${p.price}đ&lt;/li&gt;`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join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11/20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reduce — Tổng hợp thành 1 giá trị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Tổng giá trị kho hàng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total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reduce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sum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sum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Đếm sản phẩm còn hàng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inStock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reduce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count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count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stock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Tìm giá cao nhất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max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reduce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max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max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?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max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12/20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🧩 ANALOGY —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Array Methods = Dây chuyền sản xuất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Thế giới thực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Lập trình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🏭 filter = Công nhân phân loại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Lọc sản phẩm đạt/không đạt → mảng mới nhỏ hơn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🔧 map = Robot biến đổi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Biến đổi từng sản phẩm → mảng mới cùng số lượng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📦 reduce = Máy đóng gói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Gộp tất cả sản phẩm → 1 thùng (1 giá trị)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🔄 forEach = Công nhân đếm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Lặp qua nhưng không tạo sản phẩm mới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13/20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Kết hợp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14/20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Pipeline xử lý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"Lấy tên sản phẩm còn hàng, giá &lt; 20M, sắp xếp theo giá"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result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filter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stock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filter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&lt;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20000000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sort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a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b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-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b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map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`${p.name}: ${p.price}đ`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Chaining = nối nhiều methods liên tiếp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Mỗi method trả về mảng mới → method tiếp theo hoạt động trên mảng đó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15/20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KIỂM TRA NHANH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Chọn đáp án đúng: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C1. filter() trả về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A. Mảng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B. Giá trị đầu tiên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Số lượng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undefined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C2. reduce((sum, item) =&gt; sum + item, 0) — 0 là gì?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Giá trị đầu tiên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B. Giá trị tối đa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C. Giá trị khởi tạo accumulator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Bước nhảy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C3. map() khác filter() như thế nào?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map lọc, filter biến đổi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map biến đổi → cùng length, filter lọc → length nhỏ hơn hoặc bằng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2636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Không khác nhau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5836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map nhanh hơn filter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16/20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📌 TÓM TẮT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7C3AED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1. if/else: ra quyết định — ternary cho 1 dòng ngắn gọn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7C3AED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2. switch: nhiều nhánh theo giá trị cụ thể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7C3AED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3. for: biết số lần; while: không biết; for...of: duyệt array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7C3AED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4. filter: LỌC → mảng mới. map: BIẾN ĐỔI → mảng mới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7C3AED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5. reduce: TỔNG HỢP → 1 giá trị (sum, count, max...)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7C3AED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6. Chaining: .filter().map().sort() = pipeline xử lý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17/20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📚 TỪ ĐIỂN THUẬT NGỮ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Thuật ngữ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Ý nghĩa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if/else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Cấu trúc điều kiện: nếu...thì...ngược lại...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Ternary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condition ? valueIfTrue : valueIfFalse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for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Vòng lặp với bộ đếm: for (let i=0; i&lt;n; i++)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Array.map()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Biến đổi từng phần tử → mảng mới cùng length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Array.filter()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Lọc phần tử thỏa điều kiện → mảng mới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Array.reduce()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Tổng hợp mảng → 1 giá trị (sum, count, object)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Chaining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Nối nhiều array methods: arr.filter().map().reduce()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18/20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FAQ — CÂU HỎI THƯỜNG GẶP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Khi nào dùng for vs forEach vs map?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for: cần break/continue. forEach: lặp không trả về. map: biến đổi → mảng mới.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reduce có thể trả về object không?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Có! reduce trả về BẤT KỲ kiểu gì: number, string, object, array.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sort() có mutate mảng gốc không?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Có! Luôn copy trước: [...arr].sort() hoặc arr.slice().sort().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19/20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800" b="1">
                <a:solidFill>
                  <a:srgbClr val="1E293B"/>
                </a:solidFill>
                <a:latin typeface="Aptos Display"/>
              </a:rPr>
              <a:t>➡️ Bài tiếp theo: Functions
"Viết một lần, chạy triệu lần. Đó là sức mạnh của function."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04 — Control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Narrow</vt:lpstr>
      <vt:lpstr>Arial</vt:lpstr>
      <vt:lpstr>Calibri</vt:lpstr>
      <vt:lpstr>Noto Sans Symbols</vt:lpstr>
      <vt:lpstr>Roboto Condensed</vt:lpstr>
      <vt:lpstr>1_Office Theme</vt:lpstr>
      <vt:lpstr>CSE441 – Phát triển ứng dụng cho thiết bị di động</vt:lpstr>
      <vt:lpstr>Bài 1. Kiến thức chung và môi trường phát triển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Kieu Tuan Dung</dc:creator>
  <cp:lastModifiedBy>Kieu Tuan Dung</cp:lastModifiedBy>
  <cp:revision>1</cp:revision>
  <dcterms:created xsi:type="dcterms:W3CDTF">2026-05-14T01:24:57Z</dcterms:created>
  <dcterms:modified xsi:type="dcterms:W3CDTF">2026-05-14T01:25:19Z</dcterms:modified>
</cp:coreProperties>
</file>