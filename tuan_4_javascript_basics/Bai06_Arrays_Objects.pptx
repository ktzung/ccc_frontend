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7" r:id="rId2"/>
    <p:sldId id="258" r:id="rId3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4A851-E951-410D-9A38-F50A66767577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6D9861-D625-4932-B10D-1A3868D651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5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5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8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5"/>
          <p:cNvSpPr/>
          <p:nvPr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" name="Google Shape;18;p25"/>
          <p:cNvCxnSpPr/>
          <p:nvPr/>
        </p:nvCxnSpPr>
        <p:spPr>
          <a:xfrm>
            <a:off x="520878" y="3287006"/>
            <a:ext cx="911199" cy="0"/>
          </a:xfrm>
          <a:prstGeom prst="straightConnector1">
            <a:avLst/>
          </a:prstGeom>
          <a:noFill/>
          <a:ln w="28575" cap="flat" cmpd="sng">
            <a:solidFill>
              <a:srgbClr val="D249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" name="Google Shape;20;p25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1" name="Google Shape;21;p25"/>
          <p:cNvPicPr preferRelativeResize="0"/>
          <p:nvPr userDrawn="1"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170976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5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3" name="Google Shape;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299" y="6321112"/>
            <a:ext cx="3096846" cy="5151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7991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/>
          <p:nvPr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6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2A2BD"/>
              </a:buClr>
              <a:buSzPts val="2400"/>
              <a:buNone/>
              <a:defRPr sz="24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2583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/>
          <p:nvPr/>
        </p:nvSpPr>
        <p:spPr>
          <a:xfrm flipH="1">
            <a:off x="0" y="6460732"/>
            <a:ext cx="12192000" cy="396991"/>
          </a:xfrm>
          <a:prstGeom prst="rect">
            <a:avLst/>
          </a:prstGeom>
          <a:gradFill>
            <a:gsLst>
              <a:gs pos="0">
                <a:schemeClr val="lt1"/>
              </a:gs>
              <a:gs pos="100000">
                <a:srgbClr val="21314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r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0070C0"/>
              </a:solidFill>
              <a:latin typeface="Aptos Narrow" panose="020B0004020202020204" pitchFamily="34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346841" y="133906"/>
            <a:ext cx="11466787" cy="822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000"/>
              <a:buFont typeface="Arial"/>
              <a:buNone/>
              <a:defRPr sz="3000">
                <a:solidFill>
                  <a:srgbClr val="21314D"/>
                </a:solidFill>
                <a:latin typeface="Aptos Narrow" panose="020B000402020202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346841" y="1089401"/>
            <a:ext cx="11466787" cy="5087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▪"/>
              <a:defRPr sz="2200">
                <a:latin typeface="Aptos Narrow" panose="020B0004020202020204" pitchFamily="34" charset="0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✔"/>
              <a:defRPr sz="1800"/>
            </a:lvl3pPr>
            <a:lvl4pPr marL="1828800" lvl="3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0" name="Google Shape;40;p2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en-US"/>
          </a:p>
        </p:txBody>
      </p:sp>
      <p:sp>
        <p:nvSpPr>
          <p:cNvPr id="41" name="Google Shape;41;p2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ptos Narrow" panose="020B0004020202020204" pitchFamily="34" charset="0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3" name="Google Shape;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0378" y="6350423"/>
            <a:ext cx="2987381" cy="496966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7084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/>
          <p:nvPr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>
              <a:alpha val="93725"/>
            </a:srgbClr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29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29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29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57" name="Google Shape;57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4423" y="6285400"/>
            <a:ext cx="3378255" cy="56199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4705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293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30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30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30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30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0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67" name="Google Shape;6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49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body" idx="3"/>
          </p:nvPr>
        </p:nvSpPr>
        <p:spPr>
          <a:xfrm>
            <a:off x="6172201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body" idx="4"/>
          </p:nvPr>
        </p:nvSpPr>
        <p:spPr>
          <a:xfrm>
            <a:off x="6172201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31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31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31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" name="Google Shape;77;p31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1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79" name="Google Shape;79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9456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2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2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32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4" name="Google Shape;84;p32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2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2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87" name="Google Shape;87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49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3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0" name="Google Shape;90;p33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1" name="Google Shape;91;p33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33"/>
          <p:cNvSpPr txBox="1"/>
          <p:nvPr/>
        </p:nvSpPr>
        <p:spPr>
          <a:xfrm>
            <a:off x="838202" y="5746528"/>
            <a:ext cx="13016751" cy="7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</a:pPr>
            <a:r>
              <a:rPr lang="en-US" sz="44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sp>
        <p:nvSpPr>
          <p:cNvPr id="93" name="Google Shape;93;p33"/>
          <p:cNvSpPr>
            <a:spLocks noGrp="1"/>
          </p:cNvSpPr>
          <p:nvPr>
            <p:ph type="pic" idx="2"/>
          </p:nvPr>
        </p:nvSpPr>
        <p:spPr>
          <a:xfrm>
            <a:off x="0" y="1"/>
            <a:ext cx="12192000" cy="5577030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47924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4"/>
          <p:cNvSpPr txBox="1"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4"/>
          <p:cNvSpPr txBox="1">
            <a:spLocks noGrp="1"/>
          </p:cNvSpPr>
          <p:nvPr>
            <p:ph type="body" idx="1"/>
          </p:nvPr>
        </p:nvSpPr>
        <p:spPr>
          <a:xfrm>
            <a:off x="7060253" y="3052261"/>
            <a:ext cx="4862404" cy="1975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4"/>
          <p:cNvSpPr>
            <a:spLocks noGrp="1"/>
          </p:cNvSpPr>
          <p:nvPr>
            <p:ph type="pic" idx="2"/>
          </p:nvPr>
        </p:nvSpPr>
        <p:spPr>
          <a:xfrm>
            <a:off x="0" y="3"/>
            <a:ext cx="6890995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98" name="Google Shape;98;p34"/>
          <p:cNvSpPr txBox="1"/>
          <p:nvPr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5072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3200"/>
              <a:buFont typeface="Arial"/>
              <a:buNone/>
              <a:defRPr sz="3200"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35"/>
          <p:cNvSpPr txBox="1">
            <a:spLocks noGrp="1"/>
          </p:cNvSpPr>
          <p:nvPr>
            <p:ph type="body" idx="1"/>
          </p:nvPr>
        </p:nvSpPr>
        <p:spPr>
          <a:xfrm>
            <a:off x="5183188" y="987427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02" name="Google Shape;102;p3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3" name="Google Shape;103;p35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35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5" name="Google Shape;105;p35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5"/>
          <p:cNvSpPr/>
          <p:nvPr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5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08" name="Google Shape;108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0777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6"/>
          <p:cNvSpPr txBox="1">
            <a:spLocks noGrp="1"/>
          </p:cNvSpPr>
          <p:nvPr>
            <p:ph type="title"/>
          </p:nvPr>
        </p:nvSpPr>
        <p:spPr>
          <a:xfrm>
            <a:off x="450058" y="472281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36"/>
          <p:cNvSpPr>
            <a:spLocks noGrp="1"/>
          </p:cNvSpPr>
          <p:nvPr>
            <p:ph type="pic" idx="2"/>
          </p:nvPr>
        </p:nvSpPr>
        <p:spPr>
          <a:xfrm>
            <a:off x="5183189" y="2"/>
            <a:ext cx="7008812" cy="6857999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13" name="Google Shape;113;p36"/>
          <p:cNvSpPr txBox="1">
            <a:spLocks noGrp="1"/>
          </p:cNvSpPr>
          <p:nvPr>
            <p:ph type="body" idx="1"/>
          </p:nvPr>
        </p:nvSpPr>
        <p:spPr>
          <a:xfrm>
            <a:off x="450058" y="2072481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36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36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6" name="Google Shape;116;p36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8124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7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37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37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3" name="Google Shape;123;p37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37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7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26" name="Google Shape;126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64734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8"/>
          <p:cNvSpPr txBox="1">
            <a:spLocks noGrp="1"/>
          </p:cNvSpPr>
          <p:nvPr>
            <p:ph type="title"/>
          </p:nvPr>
        </p:nvSpPr>
        <p:spPr>
          <a:xfrm rot="5400000">
            <a:off x="7133432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>
                <a:solidFill>
                  <a:srgbClr val="21314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38"/>
          <p:cNvSpPr txBox="1">
            <a:spLocks noGrp="1"/>
          </p:cNvSpPr>
          <p:nvPr>
            <p:ph type="body" idx="1"/>
          </p:nvPr>
        </p:nvSpPr>
        <p:spPr>
          <a:xfrm rot="5400000">
            <a:off x="1799432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38"/>
          <p:cNvSpPr txBox="1">
            <a:spLocks noGrp="1"/>
          </p:cNvSpPr>
          <p:nvPr>
            <p:ph type="dt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38"/>
          <p:cNvSpPr txBox="1">
            <a:spLocks noGrp="1"/>
          </p:cNvSpPr>
          <p:nvPr>
            <p:ph type="ft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38"/>
          <p:cNvSpPr txBox="1">
            <a:spLocks noGrp="1"/>
          </p:cNvSpPr>
          <p:nvPr>
            <p:ph type="sldNum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38"/>
          <p:cNvSpPr/>
          <p:nvPr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8"/>
          <p:cNvSpPr txBox="1"/>
          <p:nvPr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1" i="0">
                <a:solidFill>
                  <a:srgbClr val="D2492A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1800" b="0" i="0">
                <a:solidFill>
                  <a:srgbClr val="92A2BD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/>
          </a:p>
        </p:txBody>
      </p:sp>
      <p:pic>
        <p:nvPicPr>
          <p:cNvPr id="135" name="Google Shape;135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497336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/>
          <p:nvPr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28"/>
          <p:cNvPicPr preferRelativeResize="0"/>
          <p:nvPr/>
        </p:nvPicPr>
        <p:blipFill rotWithShape="1">
          <a:blip r:embed="rId2">
            <a:alphaModFix amt="25000"/>
          </a:blip>
          <a:srcRect/>
          <a:stretch/>
        </p:blipFill>
        <p:spPr>
          <a:xfrm>
            <a:off x="1835085" y="552941"/>
            <a:ext cx="10356915" cy="58257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8"/>
          <p:cNvSpPr txBox="1">
            <a:spLocks noGrp="1"/>
          </p:cNvSpPr>
          <p:nvPr>
            <p:ph type="subTitle" idx="1"/>
          </p:nvPr>
        </p:nvSpPr>
        <p:spPr>
          <a:xfrm>
            <a:off x="2046399" y="25310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31591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314D"/>
              </a:buClr>
              <a:buSzPts val="4400"/>
              <a:buFont typeface="Arial"/>
              <a:buNone/>
              <a:defRPr sz="4400" b="1" i="0" u="none" strike="noStrike" cap="none">
                <a:solidFill>
                  <a:srgbClr val="21314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10515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"/>
          <p:cNvSpPr txBox="1"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</a:pP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CSE441</a:t>
            </a:r>
            <a:r>
              <a:rPr lang="en-US" sz="4000">
                <a:latin typeface="Roboto Condensed" panose="02000000000000000000" pitchFamily="2" charset="0"/>
                <a:ea typeface="Roboto Condensed" panose="02000000000000000000" pitchFamily="2" charset="0"/>
              </a:rPr>
              <a:t> – </a:t>
            </a:r>
            <a:r>
              <a:rPr lang="vi-VN" sz="4000">
                <a:latin typeface="Roboto Condensed" panose="02000000000000000000" pitchFamily="2" charset="0"/>
                <a:ea typeface="Roboto Condensed" panose="02000000000000000000" pitchFamily="2" charset="0"/>
              </a:rPr>
              <a:t>Phát triển ứng dụng cho thiết bị di động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sp>
        <p:nvSpPr>
          <p:cNvPr id="142" name="Google Shape;142;p1"/>
          <p:cNvSpPr txBox="1"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>
                <a:latin typeface="Roboto Condensed" panose="02000000000000000000" pitchFamily="2" charset="0"/>
                <a:ea typeface="Roboto Condensed" panose="02000000000000000000" pitchFamily="2" charset="0"/>
              </a:rPr>
              <a:t>dungkt@tlu.edu.vn</a:t>
            </a:r>
            <a:endParaRPr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Google Shape;328;p22">
            <a:extLst>
              <a:ext uri="{FF2B5EF4-FFF2-40B4-BE49-F238E27FC236}">
                <a16:creationId xmlns:a16="http://schemas.microsoft.com/office/drawing/2014/main" id="{C3F62ED3-5DD4-D133-B737-5A7F343179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4416" y="2650191"/>
            <a:ext cx="1693017" cy="249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C4C8C5F-AFE0-6FF5-62A1-799B060F925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7377"/>
          <a:stretch/>
        </p:blipFill>
        <p:spPr>
          <a:xfrm>
            <a:off x="5407451" y="478699"/>
            <a:ext cx="1377099" cy="137755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Bài </a:t>
            </a:r>
            <a:r>
              <a:rPr lang="en-US" sz="3600">
                <a:latin typeface="Roboto Condensed" panose="02000000000000000000" pitchFamily="2" charset="0"/>
                <a:ea typeface="Roboto Condensed" panose="02000000000000000000" pitchFamily="2" charset="0"/>
              </a:rPr>
              <a:t>6. </a:t>
            </a:r>
            <a:r>
              <a:rPr lang="vi-VN" sz="3600">
                <a:latin typeface="Roboto Condensed" panose="02000000000000000000" pitchFamily="2" charset="0"/>
                <a:ea typeface="Roboto Condensed" panose="02000000000000000000" pitchFamily="2" charset="0"/>
              </a:rPr>
              <a:t>Arrays &amp; Objects</a:t>
            </a:r>
            <a:endParaRPr sz="3600">
              <a:latin typeface="Roboto Condensed" panose="02000000000000000000" pitchFamily="2" charset="0"/>
              <a:ea typeface="Roboto Condensed" panose="020000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7738A0-7AE4-C6CA-109F-DFE801700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0644" y="813481"/>
            <a:ext cx="5170713" cy="2615519"/>
          </a:xfrm>
          <a:prstGeom prst="roundRect">
            <a:avLst>
              <a:gd name="adj" fmla="val 7095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🎬 TÌNH HUỐNG KHỞI ĐỘNG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Sếp giao: Xử lý 10.000 sản phẩm từ API Shopee.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Lọc theo giá, sắp xếp theo tên, tính tổng doanh thu từng danh mục.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Minh: "10.000 biến product1, product2...?"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Anh Hùng: "KHÔNG! 1 biến, 10.000 items."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const products = await fetchProducts();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const expensive = products.filter(p =&gt; p.price &gt; 10M);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const total = expensive.reduce((s, p) =&gt; s + p.price, 0);</a:t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/>
            </a:r>
          </a:p>
          <a:p>
            <a:pPr>
              <a:lnSpc>
                <a:spcPct val="160000"/>
              </a:lnSpc>
              <a:spcAft>
                <a:spcPts val="400"/>
              </a:spcAft>
            </a:pPr>
            <a:r>
              <a:rPr sz="2000" b="0">
                <a:solidFill>
                  <a:srgbClr val="1E293B"/>
                </a:solidFill>
                <a:latin typeface="Aptos"/>
              </a:rPr>
              <a:t>3 dòng. 10.000 sản phẩm. 0.012 giây. ⚡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🎯 MỤC TIÊU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Sau bài này, các bạn sẽ: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Tạo, truy cập, CRUD với Arrays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Tạo, truy cập, CRUD với Objects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Sử dụng destructuring cho array và object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Áp dụng spread/rest operator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Xử lý Array of Objects (cấu trúc phổ biến nhất)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059669"/>
                </a:solidFill>
                <a:latin typeface="Aptos"/>
              </a:rPr>
              <a:t>●  </a:t>
            </a:r>
            <a:r>
              <a:rPr sz="1700">
                <a:solidFill>
                  <a:srgbClr val="1E293B"/>
                </a:solidFill>
                <a:latin typeface="Aptos"/>
              </a:rPr>
              <a:t>Chuyển đổi JSON: stringify và parse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🗺️ LỘ TRÌNH BÀI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1️⃣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1430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Arrays — Danh sách có thứ tự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2️⃣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78308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Objects — Bản ghi có tên trường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4231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3️⃣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2316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Destructuring — Bóc gói nhanh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17519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39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4️⃣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63239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Array of Objects — Cấu trúc thực tế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70332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5️⃣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70332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Spread/Rest + 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97680"/>
            <a:ext cx="10515600" cy="548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1E293B"/>
                </a:solidFill>
                <a:latin typeface="Aptos"/>
              </a:rPr>
              <a:t>6️⃣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3434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1E293B"/>
                </a:solidFill>
                <a:latin typeface="Aptos"/>
              </a:rPr>
              <a:t>Quiz + Tổng kết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3/20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Arrays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Danh sách có thứ tự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4/20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🧩 ANALOGY — SO SÁNH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Array vs Object = Hộp có ngăn số vs Hộp có ngăn tên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73736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Thế giới thực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Lập trình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 Array = Vali đánh số ngăn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Ngăn [0], [1], [2]... — truy cập bằng vị trí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📋 Object = Tủ hồ sơ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Ngăn 'name', 'age', 'email' — truy cập bằng tên nhãn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📦📋 Array of Objects = Vali chứa hồ sơ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[{name:'Minh'}, {name:'Linh'}] — phổ biến nhất!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5/20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Array CRUD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CE9178"/>
                </a:solidFill>
                <a:latin typeface="Consolas"/>
              </a:rPr>
              <a:t>"HTML"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"CSS"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"JS"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CREATE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push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"BTL"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Thêm cuối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unshift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"Sách"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</a:t>
            </a:r>
            <a:r>
              <a:rPr sz="1300">
                <a:solidFill>
                  <a:srgbClr val="6A9955"/>
                </a:solidFill>
                <a:latin typeface="Consolas"/>
              </a:rPr>
              <a:t>// Thêm đầu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READ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length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5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includes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"JS"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</a:t>
            </a:r>
            <a:r>
              <a:rPr sz="1300">
                <a:solidFill>
                  <a:srgbClr val="6A9955"/>
                </a:solidFill>
                <a:latin typeface="Consolas"/>
              </a:rPr>
              <a:t>// true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indexOf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"CSS"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</a:t>
            </a:r>
            <a:r>
              <a:rPr sz="1300">
                <a:solidFill>
                  <a:srgbClr val="6A9955"/>
                </a:solidFill>
                <a:latin typeface="Consolas"/>
              </a:rPr>
              <a:t>// 2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UPDATE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"Master CSS"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DELETE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pop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Xóa cuối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shift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Xóa đầu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todos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splice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Xóa tại index 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6/20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❌ LỖI PHỔ BIẾN + CÁCH SỬA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Lỗi thường gặp với Array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09728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657600"/>
                <a:gridCol w="411480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Lỗi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Nguyên nhân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Cách sửa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Off-by-one: arr[3] undefined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 có 3 phần tử, index 0-2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arr.length - 1 hoặc arr.at(-1)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splice() mutate mảng gốc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splice thay đổi mảng gốc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Dùng .filter() hoặc spread [...arr]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sort() sort theo 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[10,2,1].sort() → [1,10,2]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arr.sort((a,b) =&gt; a-b)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7/20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Bản ghi có tên trường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8/20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Object CRUD + Methods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skills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CE9178"/>
                </a:solidFill>
                <a:latin typeface="Consolas"/>
              </a:rPr>
              <a:t>"HTML"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"CSS"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"JS"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"Hà Nội"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introduce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`Tôi là ${this.name}`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Truy cập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"Minh"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CE9178"/>
                </a:solidFill>
                <a:latin typeface="Consolas"/>
              </a:rPr>
              <a:t>"age"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          </a:t>
            </a:r>
            <a:r>
              <a:rPr sz="1300">
                <a:solidFill>
                  <a:srgbClr val="6A9955"/>
                </a:solidFill>
                <a:latin typeface="Consolas"/>
              </a:rPr>
              <a:t>// 21 (khi key là biến)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6A9955"/>
                </a:solidFill>
                <a:latin typeface="Consolas"/>
              </a:rPr>
              <a:t>// "Hà Nội"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introduce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   </a:t>
            </a:r>
            <a:r>
              <a:rPr sz="1300">
                <a:solidFill>
                  <a:srgbClr val="6A9955"/>
                </a:solidFill>
                <a:latin typeface="Consolas"/>
              </a:rPr>
              <a:t>// "Tôi là Minh"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CRUD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email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"..."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Thêm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gpa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3.8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   </a:t>
            </a:r>
            <a:r>
              <a:rPr sz="1300">
                <a:solidFill>
                  <a:srgbClr val="6A9955"/>
                </a:solidFill>
                <a:latin typeface="Consolas"/>
              </a:rPr>
              <a:t>// Sửa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delete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6A9955"/>
                </a:solidFill>
                <a:latin typeface="Consolas"/>
              </a:rPr>
              <a:t>// Xóa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9/20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Destructuring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Bóc gói nhanh 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10/20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Array &amp; Object Destructuring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Array destructuring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D4D4D4"/>
                </a:solidFill>
                <a:latin typeface="Consolas"/>
              </a:rPr>
              <a:t>first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second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rest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4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first=1, second=2, rest=[3,4,5]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Object destructuring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age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"HCM"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name="Minh", age=21, city="HCM" (default)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Rename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studentName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Nested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address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city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Function params (React style!)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function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UserCard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avatar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onClick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569CD6"/>
                </a:solidFill>
                <a:latin typeface="Consolas"/>
              </a:rPr>
              <a:t>return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CE9178"/>
                </a:solidFill>
                <a:latin typeface="Consolas"/>
              </a:rPr>
              <a:t>`&lt;div&gt;${name}&lt;/div&gt;`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11/20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Array of 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Cấu trúc phổ biến nhất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12/20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Xử lý Array of Objects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id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"iPhone"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cat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"Phone"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id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"MacBook"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cat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"Laptop"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id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"AirPods"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cat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"Audio"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Filter + Map + Reduce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names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expensive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total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reduce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</a:t>
            </a:r>
            <a:r>
              <a:rPr sz="1300">
                <a:solidFill>
                  <a:srgbClr val="D4D4D4"/>
                </a:solidFill>
                <a:latin typeface="Consolas"/>
              </a:rPr>
              <a:t>+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0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Chaining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products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filter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price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map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&gt;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p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D4D4D4"/>
                </a:solidFill>
                <a:latin typeface="Consolas"/>
              </a:rPr>
              <a:t>   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sort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13/20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4400" b="1">
                <a:solidFill>
                  <a:srgbClr val="FFFFFF"/>
                </a:solidFill>
                <a:latin typeface="Aptos Display"/>
              </a:rPr>
              <a:t>Spread/Rest +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000" b="0">
                <a:solidFill>
                  <a:srgbClr val="FFFFFF"/>
                </a:solidFill>
                <a:latin typeface="Aptos"/>
              </a:rPr>
              <a:t>Công cụ nâng cao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14/20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💻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1E293B"/>
                </a:solidFill>
                <a:latin typeface="Aptos"/>
              </a:rPr>
              <a:t>Spread &amp; Rest + JSON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45720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Spread — trải mảng/object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b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a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4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B5CEA8"/>
                </a:solidFill>
                <a:latin typeface="Consolas"/>
              </a:rPr>
              <a:t>5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[1,2,3,4,5]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merged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obj1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obj2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Rest — gom phần còn lại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D4D4D4"/>
                </a:solidFill>
                <a:latin typeface="Consolas"/>
              </a:rPr>
              <a:t>first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rest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[</a:t>
            </a:r>
            <a:r>
              <a:rPr sz="1300">
                <a:solidFill>
                  <a:srgbClr val="B5CEA8"/>
                </a:solidFill>
                <a:latin typeface="Consolas"/>
              </a:rPr>
              <a:t>1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2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3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B5CEA8"/>
                </a:solidFill>
                <a:latin typeface="Consolas"/>
              </a:rPr>
              <a:t>4</a:t>
            </a:r>
            <a:r>
              <a:rPr sz="1300">
                <a:solidFill>
                  <a:srgbClr val="D4D4D4"/>
                </a:solidFill>
                <a:latin typeface="Consolas"/>
              </a:rPr>
              <a:t>]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569CD6"/>
                </a:solidFill>
                <a:latin typeface="Consolas"/>
              </a:rPr>
              <a:t>const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,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others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=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D4D4D4"/>
                </a:solidFill>
                <a:latin typeface="Consolas"/>
              </a:rPr>
              <a:t>student</a:t>
            </a:r>
            <a:r>
              <a:rPr sz="1300">
                <a:solidFill>
                  <a:srgbClr val="D4D4D4"/>
                </a:solidFill>
                <a:latin typeface="Consolas"/>
              </a:rPr>
              <a:t>;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JSON — Format dữ liệu chuẩn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JSON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stringify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D4D4D4"/>
                </a:solidFill>
                <a:latin typeface="Consolas"/>
              </a:rPr>
              <a:t>{</a:t>
            </a:r>
            <a:r>
              <a:rPr sz="1300">
                <a:solidFill>
                  <a:srgbClr val="D4D4D4"/>
                </a:solidFill>
                <a:latin typeface="Consolas"/>
              </a:rPr>
              <a:t>name</a:t>
            </a:r>
            <a:r>
              <a:rPr sz="1300">
                <a:solidFill>
                  <a:srgbClr val="D4D4D4"/>
                </a:solidFill>
                <a:latin typeface="Consolas"/>
              </a:rPr>
              <a:t>:</a:t>
            </a:r>
            <a:r>
              <a:rPr sz="1300">
                <a:solidFill>
                  <a:srgbClr val="CE9178"/>
                </a:solidFill>
                <a:latin typeface="Consolas"/>
              </a:rPr>
              <a:t>"Minh"</a:t>
            </a:r>
            <a:r>
              <a:rPr sz="1300">
                <a:solidFill>
                  <a:srgbClr val="D4D4D4"/>
                </a:solidFill>
                <a:latin typeface="Consolas"/>
              </a:rPr>
              <a:t>}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 </a:t>
            </a:r>
            <a:r>
              <a:rPr sz="1300">
                <a:solidFill>
                  <a:srgbClr val="6A9955"/>
                </a:solidFill>
                <a:latin typeface="Consolas"/>
              </a:rPr>
              <a:t>// '{"name":"Minh"}'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9CDCFE"/>
                </a:solidFill>
                <a:latin typeface="Consolas"/>
              </a:rPr>
              <a:t>JSON</a:t>
            </a:r>
            <a:r>
              <a:rPr sz="1300">
                <a:solidFill>
                  <a:srgbClr val="D4D4D4"/>
                </a:solidFill>
                <a:latin typeface="Consolas"/>
              </a:rPr>
              <a:t>.</a:t>
            </a:r>
            <a:r>
              <a:rPr sz="1300">
                <a:solidFill>
                  <a:srgbClr val="D4D4D4"/>
                </a:solidFill>
                <a:latin typeface="Consolas"/>
              </a:rPr>
              <a:t>parse</a:t>
            </a:r>
            <a:r>
              <a:rPr sz="1300">
                <a:solidFill>
                  <a:srgbClr val="D4D4D4"/>
                </a:solidFill>
                <a:latin typeface="Consolas"/>
              </a:rPr>
              <a:t>(</a:t>
            </a:r>
            <a:r>
              <a:rPr sz="1300">
                <a:solidFill>
                  <a:srgbClr val="CE9178"/>
                </a:solidFill>
                <a:latin typeface="Consolas"/>
              </a:rPr>
              <a:t>'{"name":"Minh"}'</a:t>
            </a:r>
            <a:r>
              <a:rPr sz="1300">
                <a:solidFill>
                  <a:srgbClr val="D4D4D4"/>
                </a:solidFill>
                <a:latin typeface="Consolas"/>
              </a:rPr>
              <a:t>)</a:t>
            </a:r>
            <a:r>
              <a:rPr sz="1300">
                <a:solidFill>
                  <a:srgbClr val="D4D4D4"/>
                </a:solidFill>
                <a:latin typeface="Consolas"/>
              </a:rPr>
              <a:t> </a:t>
            </a:r>
            <a:r>
              <a:rPr sz="1300">
                <a:solidFill>
                  <a:srgbClr val="6A9955"/>
                </a:solidFill>
                <a:latin typeface="Consolas"/>
              </a:rPr>
              <a:t>// {name:"Minh"}</a:t>
            </a:r>
          </a:p>
          <a:p>
            <a:pPr>
              <a:lnSpc>
                <a:spcPct val="120000"/>
              </a:lnSpc>
              <a:spcAft>
                <a:spcPts val="200"/>
              </a:spcAft>
            </a:pPr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sz="1300">
                <a:solidFill>
                  <a:srgbClr val="6A9955"/>
                </a:solidFill>
                <a:latin typeface="Consolas"/>
              </a:rPr>
              <a:t>// API communication luôn dùng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15/20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CA8A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KIỂM TRA NHANH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E293B"/>
                </a:solidFill>
                <a:latin typeface="Aptos"/>
              </a:rPr>
              <a:t>Chọn đáp án đúng: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C1. const arr = [1,2,3]; arr.push(4) — có lỗi không?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Có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B. Không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Tùy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260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TypeError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C2. Destructuring { name, age = 25 } = {name:'Minh'} — age là gì?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A. undefined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1148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null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348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C. 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E293B"/>
                </a:solidFill>
                <a:latin typeface="Aptos"/>
              </a:rPr>
              <a:t>C3. [...a, ...b] làm gì?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059669"/>
                </a:solidFill>
                <a:latin typeface="Aptos"/>
              </a:rPr>
              <a:t>→ A. Nối 2 mảng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94360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B. So sánh 2 mảng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2636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C. Xóa phần tử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58368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4748B"/>
                </a:solidFill>
                <a:latin typeface="Aptos"/>
              </a:rPr>
              <a:t>  D. Copy mảng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16/20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📌 TÓM TẮT BÀI HỌC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1. Arrays: danh sách có thứ tự — push/pop/splice/includes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2. Objects: bản ghi có tên trường — dot notation / bracket notation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3. Destructuring: const {name} = obj; const [a, b] = arr;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4. Array of Objects = cấu trúc phổ biến nhất trong web (API, DB, state)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5. Spread (...): copy/merge. Rest (...): gom phần còn lại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00">
                <a:solidFill>
                  <a:srgbClr val="DB2777"/>
                </a:solidFill>
                <a:latin typeface="Aptos"/>
              </a:rPr>
              <a:t>●  </a:t>
            </a:r>
            <a:r>
              <a:rPr sz="1800">
                <a:solidFill>
                  <a:srgbClr val="1E293B"/>
                </a:solidFill>
                <a:latin typeface="Aptos"/>
              </a:rPr>
              <a:t>6. JSON.stringify() / JSON.parse() = giao tiếp API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17/20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📚 TỪ ĐIỂN THUẬT NGỮ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Thuật ngữ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Ý nghĩa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Danh sách có thứ tự, truy cập bằng index [0], [1]...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Object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Bản ghi có key-value, truy cập bằng .name hoặc ['name']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Destructuring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Gán nhanh nhiều biến từ array/object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Spread operator ([...] / {...})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Trải array/object ra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Rest operator (...args)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Gom nhiều giá trị thành array/object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JavaScript Object Notation — format dữ liệu chuẩn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Array of Objects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  <a:latin typeface="Aptos"/>
                        </a:defRPr>
                      </a:pPr>
                      <a:r>
                        <a:t>[{key:value}, ...] — cấu trúc data phổ biến nhất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18/20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274320"/>
            <a:ext cx="3200400" cy="5029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❓ FAQ — CÂU HỎI THƯỜNG GẶP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Array và Object khác gì?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Array: có thứ tự, truy cập index. Object: có key, truy cập tên trường. Dùng array cho danh sách, object cho bản ghi.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240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Khi nào dùng [...arr] vs arr.slice()?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Cả hai đều copy. Spread gọn hơn, slice() tương thích cũ hơn.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54864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0">
                <a:solidFill>
                  <a:srgbClr val="1E293B"/>
                </a:solidFill>
                <a:latin typeface="Aptos"/>
              </a:rPr>
              <a:t>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2044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7C3AED"/>
                </a:solidFill>
                <a:latin typeface="Aptos"/>
              </a:rPr>
              <a:t>Q: JSON.parse có an toàn không?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400"/>
              </a:spcAft>
            </a:pPr>
            <a:r>
              <a:rPr sz="1300" b="0">
                <a:solidFill>
                  <a:srgbClr val="64748B"/>
                </a:solidFill>
                <a:latin typeface="Aptos"/>
              </a:rPr>
              <a:t>A: Không! Wrap trong try/catch vì parse lỗi sẽ throw. Luôn validate JSON từ API.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19/20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3800" b="1">
                <a:solidFill>
                  <a:srgbClr val="1E293B"/>
                </a:solidFill>
                <a:latin typeface="Aptos Display"/>
              </a:rPr>
              <a:t>➡️ Bài tiếp theo: DOM Manipulation
"Biến và data đã xong. Bây giờ mình cần THAY ĐỔI trang web bằng JS."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58368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CSE391 — Bài 06 — Arrays &amp; Objects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4748B"/>
                </a:solidFill>
                <a:latin typeface="Aptos"/>
              </a:rPr>
              <a:t>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Narrow</vt:lpstr>
      <vt:lpstr>Arial</vt:lpstr>
      <vt:lpstr>Calibri</vt:lpstr>
      <vt:lpstr>Noto Sans Symbols</vt:lpstr>
      <vt:lpstr>Roboto Condensed</vt:lpstr>
      <vt:lpstr>1_Office Theme</vt:lpstr>
      <vt:lpstr>CSE441 – Phát triển ứng dụng cho thiết bị di động</vt:lpstr>
      <vt:lpstr>Bài 1. Kiến thức chung và môi trường phát triển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Kieu Tuan Dung</dc:creator>
  <cp:lastModifiedBy>Kieu Tuan Dung</cp:lastModifiedBy>
  <cp:revision>1</cp:revision>
  <dcterms:created xsi:type="dcterms:W3CDTF">2026-05-14T01:24:57Z</dcterms:created>
  <dcterms:modified xsi:type="dcterms:W3CDTF">2026-05-14T01:25:19Z</dcterms:modified>
</cp:coreProperties>
</file>